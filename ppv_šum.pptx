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  <p:sldId id="265" r:id="rId10"/>
    <p:sldId id="268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6"/>
  </p:normalViewPr>
  <p:slideViewPr>
    <p:cSldViewPr snapToGrid="0" snapToObjects="1">
      <p:cViewPr varScale="1">
        <p:scale>
          <a:sx n="105" d="100"/>
          <a:sy n="105" d="100"/>
        </p:scale>
        <p:origin x="840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2E8EA3-20DB-4397-9084-FB57399AD9E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972F93-FA5A-4C2C-87A5-C91048951CE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1200" b="1" dirty="0"/>
            <a:t>Oxford-IIIT Pet: 37 tried, &gt;7000 </a:t>
          </a:r>
          <a:r>
            <a:rPr lang="en-GB" sz="1200" b="1" dirty="0" err="1"/>
            <a:t>obrázkov</a:t>
          </a:r>
          <a:endParaRPr lang="en-US" sz="1200" b="1" dirty="0"/>
        </a:p>
      </dgm:t>
    </dgm:pt>
    <dgm:pt modelId="{AF99F393-DF53-4419-B4C6-E6550BEAF43F}" type="parTrans" cxnId="{5A4EDC47-48E2-4CC7-864D-91FFCEB351BC}">
      <dgm:prSet/>
      <dgm:spPr/>
      <dgm:t>
        <a:bodyPr/>
        <a:lstStyle/>
        <a:p>
          <a:endParaRPr lang="en-US"/>
        </a:p>
      </dgm:t>
    </dgm:pt>
    <dgm:pt modelId="{54BA661A-9B26-4110-AF69-C1A9CA407ADF}" type="sibTrans" cxnId="{5A4EDC47-48E2-4CC7-864D-91FFCEB351BC}">
      <dgm:prSet/>
      <dgm:spPr/>
      <dgm:t>
        <a:bodyPr/>
        <a:lstStyle/>
        <a:p>
          <a:endParaRPr lang="en-US"/>
        </a:p>
      </dgm:t>
    </dgm:pt>
    <dgm:pt modelId="{49F31EC7-9015-4A2F-90ED-C987C000EB9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1200" b="1" dirty="0"/>
            <a:t>Split train/</a:t>
          </a:r>
          <a:r>
            <a:rPr lang="en-GB" sz="1200" b="1" dirty="0" err="1"/>
            <a:t>val</a:t>
          </a:r>
          <a:r>
            <a:rPr lang="en-GB" sz="1200" b="1" dirty="0"/>
            <a:t>/test = 80/10/10 (seed=42)</a:t>
          </a:r>
          <a:endParaRPr lang="en-US" sz="1200" b="1" dirty="0"/>
        </a:p>
      </dgm:t>
    </dgm:pt>
    <dgm:pt modelId="{43566709-99E7-48AD-B6C3-A38FE5DA2A2A}" type="parTrans" cxnId="{8089B953-C7FE-46F4-9E53-37E0CC1E0338}">
      <dgm:prSet/>
      <dgm:spPr/>
      <dgm:t>
        <a:bodyPr/>
        <a:lstStyle/>
        <a:p>
          <a:endParaRPr lang="en-US"/>
        </a:p>
      </dgm:t>
    </dgm:pt>
    <dgm:pt modelId="{4834F0F4-D9E6-4A5E-9842-23629A291135}" type="sibTrans" cxnId="{8089B953-C7FE-46F4-9E53-37E0CC1E0338}">
      <dgm:prSet/>
      <dgm:spPr/>
      <dgm:t>
        <a:bodyPr/>
        <a:lstStyle/>
        <a:p>
          <a:endParaRPr lang="en-US"/>
        </a:p>
      </dgm:t>
    </dgm:pt>
    <dgm:pt modelId="{3F76771A-E8FA-42DB-B171-B8E2908A04B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1200" b="1" dirty="0" err="1"/>
            <a:t>Augmentácie</a:t>
          </a:r>
          <a:r>
            <a:rPr lang="en-GB" sz="1200" b="1" dirty="0"/>
            <a:t>: geometric (flip, rotate) + </a:t>
          </a:r>
          <a:r>
            <a:rPr lang="en-GB" sz="1200" b="1" dirty="0" err="1"/>
            <a:t>color</a:t>
          </a:r>
          <a:r>
            <a:rPr lang="en-GB" sz="1200" b="1" dirty="0"/>
            <a:t> jitter</a:t>
          </a:r>
          <a:endParaRPr lang="en-US" sz="1200" b="1" dirty="0"/>
        </a:p>
      </dgm:t>
    </dgm:pt>
    <dgm:pt modelId="{40B4942B-E25B-45D5-AA1D-8B71013CD8B2}" type="parTrans" cxnId="{1EFD2701-63E8-48D0-A6FF-900228252650}">
      <dgm:prSet/>
      <dgm:spPr/>
      <dgm:t>
        <a:bodyPr/>
        <a:lstStyle/>
        <a:p>
          <a:endParaRPr lang="en-US"/>
        </a:p>
      </dgm:t>
    </dgm:pt>
    <dgm:pt modelId="{0ADD1AB2-F500-42F1-89A0-8909133C2124}" type="sibTrans" cxnId="{1EFD2701-63E8-48D0-A6FF-900228252650}">
      <dgm:prSet/>
      <dgm:spPr/>
      <dgm:t>
        <a:bodyPr/>
        <a:lstStyle/>
        <a:p>
          <a:endParaRPr lang="en-US"/>
        </a:p>
      </dgm:t>
    </dgm:pt>
    <dgm:pt modelId="{AD89BED9-3057-442E-9F80-7550CA3100DB}" type="pres">
      <dgm:prSet presAssocID="{BD2E8EA3-20DB-4397-9084-FB57399AD9ED}" presName="root" presStyleCnt="0">
        <dgm:presLayoutVars>
          <dgm:dir/>
          <dgm:resizeHandles val="exact"/>
        </dgm:presLayoutVars>
      </dgm:prSet>
      <dgm:spPr/>
    </dgm:pt>
    <dgm:pt modelId="{FE11D378-64D6-4D9F-AF6A-854FDAFAF938}" type="pres">
      <dgm:prSet presAssocID="{D2972F93-FA5A-4C2C-87A5-C91048951CE9}" presName="compNode" presStyleCnt="0"/>
      <dgm:spPr/>
    </dgm:pt>
    <dgm:pt modelId="{632E0F63-3DD9-49ED-B2D7-1EF00ADAB5C3}" type="pres">
      <dgm:prSet presAssocID="{D2972F93-FA5A-4C2C-87A5-C91048951CE9}" presName="iconBgRect" presStyleLbl="bgShp" presStyleIdx="0" presStyleCnt="3"/>
      <dgm:spPr/>
    </dgm:pt>
    <dgm:pt modelId="{7EE42C8B-5FFC-43C2-AD0A-DFBAEA6C862F}" type="pres">
      <dgm:prSet presAssocID="{D2972F93-FA5A-4C2C-87A5-C91048951C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E7D6F89C-2ACA-43CD-925A-650869A22ABB}" type="pres">
      <dgm:prSet presAssocID="{D2972F93-FA5A-4C2C-87A5-C91048951CE9}" presName="spaceRect" presStyleCnt="0"/>
      <dgm:spPr/>
    </dgm:pt>
    <dgm:pt modelId="{9842B248-B324-44CE-846C-2D885AC5B793}" type="pres">
      <dgm:prSet presAssocID="{D2972F93-FA5A-4C2C-87A5-C91048951CE9}" presName="textRect" presStyleLbl="revTx" presStyleIdx="0" presStyleCnt="3">
        <dgm:presLayoutVars>
          <dgm:chMax val="1"/>
          <dgm:chPref val="1"/>
        </dgm:presLayoutVars>
      </dgm:prSet>
      <dgm:spPr/>
    </dgm:pt>
    <dgm:pt modelId="{E6BCA666-3AD8-4E85-B40B-6753F1E77CF7}" type="pres">
      <dgm:prSet presAssocID="{54BA661A-9B26-4110-AF69-C1A9CA407ADF}" presName="sibTrans" presStyleCnt="0"/>
      <dgm:spPr/>
    </dgm:pt>
    <dgm:pt modelId="{CC532390-C6E7-4414-AB40-776E56971D0F}" type="pres">
      <dgm:prSet presAssocID="{49F31EC7-9015-4A2F-90ED-C987C000EB9F}" presName="compNode" presStyleCnt="0"/>
      <dgm:spPr/>
    </dgm:pt>
    <dgm:pt modelId="{E9CAF574-7287-47AD-A0DF-DDC8B60B6E4E}" type="pres">
      <dgm:prSet presAssocID="{49F31EC7-9015-4A2F-90ED-C987C000EB9F}" presName="iconBgRect" presStyleLbl="bgShp" presStyleIdx="1" presStyleCnt="3"/>
      <dgm:spPr/>
    </dgm:pt>
    <dgm:pt modelId="{C491967C-2D7E-4FEE-AF8A-47680D3440EE}" type="pres">
      <dgm:prSet presAssocID="{49F31EC7-9015-4A2F-90ED-C987C000EB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bacus with solid fill"/>
        </a:ext>
      </dgm:extLst>
    </dgm:pt>
    <dgm:pt modelId="{EF7AA9BA-7706-4CB1-8554-C794D63CBBA4}" type="pres">
      <dgm:prSet presAssocID="{49F31EC7-9015-4A2F-90ED-C987C000EB9F}" presName="spaceRect" presStyleCnt="0"/>
      <dgm:spPr/>
    </dgm:pt>
    <dgm:pt modelId="{B7ECD9A8-D933-4C19-9D8F-FFA451AE8F33}" type="pres">
      <dgm:prSet presAssocID="{49F31EC7-9015-4A2F-90ED-C987C000EB9F}" presName="textRect" presStyleLbl="revTx" presStyleIdx="1" presStyleCnt="3">
        <dgm:presLayoutVars>
          <dgm:chMax val="1"/>
          <dgm:chPref val="1"/>
        </dgm:presLayoutVars>
      </dgm:prSet>
      <dgm:spPr/>
    </dgm:pt>
    <dgm:pt modelId="{9729EE23-7D74-4442-BF6C-7114CA6BBEF5}" type="pres">
      <dgm:prSet presAssocID="{4834F0F4-D9E6-4A5E-9842-23629A291135}" presName="sibTrans" presStyleCnt="0"/>
      <dgm:spPr/>
    </dgm:pt>
    <dgm:pt modelId="{C31FAB16-AA24-4E5D-80F0-A816B3228A0C}" type="pres">
      <dgm:prSet presAssocID="{3F76771A-E8FA-42DB-B171-B8E2908A04BC}" presName="compNode" presStyleCnt="0"/>
      <dgm:spPr/>
    </dgm:pt>
    <dgm:pt modelId="{CE2FACED-56B0-4B09-89CC-CA51F853DD6B}" type="pres">
      <dgm:prSet presAssocID="{3F76771A-E8FA-42DB-B171-B8E2908A04BC}" presName="iconBgRect" presStyleLbl="bgShp" presStyleIdx="2" presStyleCnt="3"/>
      <dgm:spPr/>
    </dgm:pt>
    <dgm:pt modelId="{F31605C3-C1F2-4903-8A11-C334CDC21106}" type="pres">
      <dgm:prSet presAssocID="{3F76771A-E8FA-42DB-B171-B8E2908A04B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69ADDE1-6D37-4EAC-9315-B44B9AFF6125}" type="pres">
      <dgm:prSet presAssocID="{3F76771A-E8FA-42DB-B171-B8E2908A04BC}" presName="spaceRect" presStyleCnt="0"/>
      <dgm:spPr/>
    </dgm:pt>
    <dgm:pt modelId="{9686ED88-A940-457C-86A9-05B2EE0457D8}" type="pres">
      <dgm:prSet presAssocID="{3F76771A-E8FA-42DB-B171-B8E2908A04B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EFD2701-63E8-48D0-A6FF-900228252650}" srcId="{BD2E8EA3-20DB-4397-9084-FB57399AD9ED}" destId="{3F76771A-E8FA-42DB-B171-B8E2908A04BC}" srcOrd="2" destOrd="0" parTransId="{40B4942B-E25B-45D5-AA1D-8B71013CD8B2}" sibTransId="{0ADD1AB2-F500-42F1-89A0-8909133C2124}"/>
    <dgm:cxn modelId="{D1E9843B-9631-41AF-B64C-28B2496E7286}" type="presOf" srcId="{49F31EC7-9015-4A2F-90ED-C987C000EB9F}" destId="{B7ECD9A8-D933-4C19-9D8F-FFA451AE8F33}" srcOrd="0" destOrd="0" presId="urn:microsoft.com/office/officeart/2018/5/layout/IconCircleLabelList"/>
    <dgm:cxn modelId="{5A4EDC47-48E2-4CC7-864D-91FFCEB351BC}" srcId="{BD2E8EA3-20DB-4397-9084-FB57399AD9ED}" destId="{D2972F93-FA5A-4C2C-87A5-C91048951CE9}" srcOrd="0" destOrd="0" parTransId="{AF99F393-DF53-4419-B4C6-E6550BEAF43F}" sibTransId="{54BA661A-9B26-4110-AF69-C1A9CA407ADF}"/>
    <dgm:cxn modelId="{8089B953-C7FE-46F4-9E53-37E0CC1E0338}" srcId="{BD2E8EA3-20DB-4397-9084-FB57399AD9ED}" destId="{49F31EC7-9015-4A2F-90ED-C987C000EB9F}" srcOrd="1" destOrd="0" parTransId="{43566709-99E7-48AD-B6C3-A38FE5DA2A2A}" sibTransId="{4834F0F4-D9E6-4A5E-9842-23629A291135}"/>
    <dgm:cxn modelId="{39DCF555-B835-4014-B649-052E50D94B7B}" type="presOf" srcId="{BD2E8EA3-20DB-4397-9084-FB57399AD9ED}" destId="{AD89BED9-3057-442E-9F80-7550CA3100DB}" srcOrd="0" destOrd="0" presId="urn:microsoft.com/office/officeart/2018/5/layout/IconCircleLabelList"/>
    <dgm:cxn modelId="{C13B0D92-EB73-46DE-9EEF-3FA08D255DC3}" type="presOf" srcId="{3F76771A-E8FA-42DB-B171-B8E2908A04BC}" destId="{9686ED88-A940-457C-86A9-05B2EE0457D8}" srcOrd="0" destOrd="0" presId="urn:microsoft.com/office/officeart/2018/5/layout/IconCircleLabelList"/>
    <dgm:cxn modelId="{6842F6E9-80C5-4C53-BA1D-19C339C65BFA}" type="presOf" srcId="{D2972F93-FA5A-4C2C-87A5-C91048951CE9}" destId="{9842B248-B324-44CE-846C-2D885AC5B793}" srcOrd="0" destOrd="0" presId="urn:microsoft.com/office/officeart/2018/5/layout/IconCircleLabelList"/>
    <dgm:cxn modelId="{2EAAFB5F-033F-46AB-9F1E-C92AA4F104B8}" type="presParOf" srcId="{AD89BED9-3057-442E-9F80-7550CA3100DB}" destId="{FE11D378-64D6-4D9F-AF6A-854FDAFAF938}" srcOrd="0" destOrd="0" presId="urn:microsoft.com/office/officeart/2018/5/layout/IconCircleLabelList"/>
    <dgm:cxn modelId="{5C1F045A-95D6-4005-925E-F38F28D64CE3}" type="presParOf" srcId="{FE11D378-64D6-4D9F-AF6A-854FDAFAF938}" destId="{632E0F63-3DD9-49ED-B2D7-1EF00ADAB5C3}" srcOrd="0" destOrd="0" presId="urn:microsoft.com/office/officeart/2018/5/layout/IconCircleLabelList"/>
    <dgm:cxn modelId="{7B53206E-D0A0-4B34-A148-27E8A9D81D36}" type="presParOf" srcId="{FE11D378-64D6-4D9F-AF6A-854FDAFAF938}" destId="{7EE42C8B-5FFC-43C2-AD0A-DFBAEA6C862F}" srcOrd="1" destOrd="0" presId="urn:microsoft.com/office/officeart/2018/5/layout/IconCircleLabelList"/>
    <dgm:cxn modelId="{49764020-F405-42C5-BB60-763DAB1B2D9B}" type="presParOf" srcId="{FE11D378-64D6-4D9F-AF6A-854FDAFAF938}" destId="{E7D6F89C-2ACA-43CD-925A-650869A22ABB}" srcOrd="2" destOrd="0" presId="urn:microsoft.com/office/officeart/2018/5/layout/IconCircleLabelList"/>
    <dgm:cxn modelId="{C7924737-90CA-401A-B4E9-7B2DDF49D6E9}" type="presParOf" srcId="{FE11D378-64D6-4D9F-AF6A-854FDAFAF938}" destId="{9842B248-B324-44CE-846C-2D885AC5B793}" srcOrd="3" destOrd="0" presId="urn:microsoft.com/office/officeart/2018/5/layout/IconCircleLabelList"/>
    <dgm:cxn modelId="{17DB4961-0D17-4C6A-ABDE-833998653ACC}" type="presParOf" srcId="{AD89BED9-3057-442E-9F80-7550CA3100DB}" destId="{E6BCA666-3AD8-4E85-B40B-6753F1E77CF7}" srcOrd="1" destOrd="0" presId="urn:microsoft.com/office/officeart/2018/5/layout/IconCircleLabelList"/>
    <dgm:cxn modelId="{BBF9F1F1-AA79-4E61-BB5B-01FFECC53500}" type="presParOf" srcId="{AD89BED9-3057-442E-9F80-7550CA3100DB}" destId="{CC532390-C6E7-4414-AB40-776E56971D0F}" srcOrd="2" destOrd="0" presId="urn:microsoft.com/office/officeart/2018/5/layout/IconCircleLabelList"/>
    <dgm:cxn modelId="{A86B0826-ADD1-4BCA-9E11-124081C3E6D9}" type="presParOf" srcId="{CC532390-C6E7-4414-AB40-776E56971D0F}" destId="{E9CAF574-7287-47AD-A0DF-DDC8B60B6E4E}" srcOrd="0" destOrd="0" presId="urn:microsoft.com/office/officeart/2018/5/layout/IconCircleLabelList"/>
    <dgm:cxn modelId="{68ACDCCE-FF56-4FAB-9DAF-395ADB35A327}" type="presParOf" srcId="{CC532390-C6E7-4414-AB40-776E56971D0F}" destId="{C491967C-2D7E-4FEE-AF8A-47680D3440EE}" srcOrd="1" destOrd="0" presId="urn:microsoft.com/office/officeart/2018/5/layout/IconCircleLabelList"/>
    <dgm:cxn modelId="{E69BF055-2C05-4B83-9388-65934610D7F1}" type="presParOf" srcId="{CC532390-C6E7-4414-AB40-776E56971D0F}" destId="{EF7AA9BA-7706-4CB1-8554-C794D63CBBA4}" srcOrd="2" destOrd="0" presId="urn:microsoft.com/office/officeart/2018/5/layout/IconCircleLabelList"/>
    <dgm:cxn modelId="{C7B28C5C-C290-4AD3-8BED-1C77CAA90BFE}" type="presParOf" srcId="{CC532390-C6E7-4414-AB40-776E56971D0F}" destId="{B7ECD9A8-D933-4C19-9D8F-FFA451AE8F33}" srcOrd="3" destOrd="0" presId="urn:microsoft.com/office/officeart/2018/5/layout/IconCircleLabelList"/>
    <dgm:cxn modelId="{939E3AAA-70C3-43B8-80AF-2A7B0D0CA5F5}" type="presParOf" srcId="{AD89BED9-3057-442E-9F80-7550CA3100DB}" destId="{9729EE23-7D74-4442-BF6C-7114CA6BBEF5}" srcOrd="3" destOrd="0" presId="urn:microsoft.com/office/officeart/2018/5/layout/IconCircleLabelList"/>
    <dgm:cxn modelId="{8B7E0A97-0210-49C4-A4CC-7B3179D9EE38}" type="presParOf" srcId="{AD89BED9-3057-442E-9F80-7550CA3100DB}" destId="{C31FAB16-AA24-4E5D-80F0-A816B3228A0C}" srcOrd="4" destOrd="0" presId="urn:microsoft.com/office/officeart/2018/5/layout/IconCircleLabelList"/>
    <dgm:cxn modelId="{EB76CF5F-C4E6-47FD-8020-E6252BAEB0A0}" type="presParOf" srcId="{C31FAB16-AA24-4E5D-80F0-A816B3228A0C}" destId="{CE2FACED-56B0-4B09-89CC-CA51F853DD6B}" srcOrd="0" destOrd="0" presId="urn:microsoft.com/office/officeart/2018/5/layout/IconCircleLabelList"/>
    <dgm:cxn modelId="{020CD265-A758-45BC-AE75-D5630F8AD78E}" type="presParOf" srcId="{C31FAB16-AA24-4E5D-80F0-A816B3228A0C}" destId="{F31605C3-C1F2-4903-8A11-C334CDC21106}" srcOrd="1" destOrd="0" presId="urn:microsoft.com/office/officeart/2018/5/layout/IconCircleLabelList"/>
    <dgm:cxn modelId="{981B7537-C2D3-45C6-A79D-8C1348C3DC1A}" type="presParOf" srcId="{C31FAB16-AA24-4E5D-80F0-A816B3228A0C}" destId="{169ADDE1-6D37-4EAC-9315-B44B9AFF6125}" srcOrd="2" destOrd="0" presId="urn:microsoft.com/office/officeart/2018/5/layout/IconCircleLabelList"/>
    <dgm:cxn modelId="{6287CAFA-E8CC-4972-A1AA-A43544DF3B92}" type="presParOf" srcId="{C31FAB16-AA24-4E5D-80F0-A816B3228A0C}" destId="{9686ED88-A940-457C-86A9-05B2EE0457D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10A09C-061F-4436-B6CF-8C748E65778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F8061B-5EF7-4E66-8CB7-69CAE76263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Gaussian: </a:t>
          </a:r>
          <a:r>
            <a:rPr lang="el-GR" sz="1400" dirty="0"/>
            <a:t>μ=0, </a:t>
          </a:r>
          <a:endParaRPr lang="en-US" sz="1400" dirty="0"/>
        </a:p>
        <a:p>
          <a:pPr>
            <a:lnSpc>
              <a:spcPct val="100000"/>
            </a:lnSpc>
          </a:pPr>
          <a:r>
            <a:rPr lang="el-GR" sz="1400" dirty="0"/>
            <a:t>σ ∈ {0</a:t>
          </a:r>
          <a:r>
            <a:rPr lang="en-US" sz="1400" dirty="0"/>
            <a:t>,</a:t>
          </a:r>
          <a:r>
            <a:rPr lang="el-GR" sz="1400" dirty="0"/>
            <a:t>01</a:t>
          </a:r>
          <a:r>
            <a:rPr lang="en-US" sz="1400" dirty="0"/>
            <a:t>;</a:t>
          </a:r>
          <a:r>
            <a:rPr lang="el-GR" sz="1400" dirty="0"/>
            <a:t> 0</a:t>
          </a:r>
          <a:r>
            <a:rPr lang="en-US" sz="1400" dirty="0"/>
            <a:t>,3</a:t>
          </a:r>
          <a:r>
            <a:rPr lang="el-GR" sz="1400" dirty="0"/>
            <a:t>}</a:t>
          </a:r>
          <a:endParaRPr lang="en-US" sz="1400" dirty="0"/>
        </a:p>
      </dgm:t>
    </dgm:pt>
    <dgm:pt modelId="{8047F713-7731-44F8-9E6B-FD6E8FA6AB64}" type="parTrans" cxnId="{19F72165-E39D-4703-9AC7-A7617882E561}">
      <dgm:prSet/>
      <dgm:spPr/>
      <dgm:t>
        <a:bodyPr/>
        <a:lstStyle/>
        <a:p>
          <a:endParaRPr lang="en-US"/>
        </a:p>
      </dgm:t>
    </dgm:pt>
    <dgm:pt modelId="{A1EB4C14-6D67-4D42-8392-62FAC160F1AB}" type="sibTrans" cxnId="{19F72165-E39D-4703-9AC7-A7617882E56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9AAACC-0219-440D-9E42-9DC9269620B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Poisson: </a:t>
          </a:r>
        </a:p>
        <a:p>
          <a:pPr>
            <a:lnSpc>
              <a:spcPct val="100000"/>
            </a:lnSpc>
          </a:pPr>
          <a:r>
            <a:rPr lang="el-GR" sz="1400" dirty="0"/>
            <a:t>λ ∈ {10</a:t>
          </a:r>
          <a:r>
            <a:rPr lang="en-US" sz="1400" dirty="0"/>
            <a:t>;</a:t>
          </a:r>
          <a:r>
            <a:rPr lang="el-GR" sz="1400" dirty="0"/>
            <a:t> 100}</a:t>
          </a:r>
          <a:endParaRPr lang="en-US" sz="1400" dirty="0"/>
        </a:p>
      </dgm:t>
    </dgm:pt>
    <dgm:pt modelId="{D8585985-B83F-4080-B6DB-933DD4659FA0}" type="parTrans" cxnId="{F88F4A65-D044-4BB5-8473-28F67929B30F}">
      <dgm:prSet/>
      <dgm:spPr/>
      <dgm:t>
        <a:bodyPr/>
        <a:lstStyle/>
        <a:p>
          <a:endParaRPr lang="en-US"/>
        </a:p>
      </dgm:t>
    </dgm:pt>
    <dgm:pt modelId="{9283883C-0074-4240-9C76-A62466475F86}" type="sibTrans" cxnId="{F88F4A65-D044-4BB5-8473-28F67929B3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425D0C9-738E-4137-9088-908521B537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 err="1"/>
            <a:t>Salt&amp;Pepper</a:t>
          </a:r>
          <a:r>
            <a:rPr lang="en-GB" sz="1400" dirty="0"/>
            <a:t>: </a:t>
          </a:r>
        </a:p>
        <a:p>
          <a:pPr>
            <a:lnSpc>
              <a:spcPct val="100000"/>
            </a:lnSpc>
          </a:pPr>
          <a:r>
            <a:rPr lang="en-GB" sz="1400" dirty="0"/>
            <a:t>amount ∈ {0,005; 0,05}</a:t>
          </a:r>
          <a:endParaRPr lang="en-US" sz="1400" dirty="0"/>
        </a:p>
      </dgm:t>
    </dgm:pt>
    <dgm:pt modelId="{EB97EC0C-C71A-47FB-A93B-315F600B3228}" type="parTrans" cxnId="{31AE7CA0-B392-46F0-84C3-EA30544AD6CB}">
      <dgm:prSet/>
      <dgm:spPr/>
      <dgm:t>
        <a:bodyPr/>
        <a:lstStyle/>
        <a:p>
          <a:endParaRPr lang="en-US"/>
        </a:p>
      </dgm:t>
    </dgm:pt>
    <dgm:pt modelId="{3B851674-12E3-43C5-9F1C-809F92DB2F68}" type="sibTrans" cxnId="{31AE7CA0-B392-46F0-84C3-EA30544AD6C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5CEC00-5F5A-40B1-8162-A33BA38609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 err="1"/>
            <a:t>Implementácia</a:t>
          </a:r>
          <a:r>
            <a:rPr lang="en-GB" sz="1400" dirty="0"/>
            <a:t> </a:t>
          </a:r>
          <a:r>
            <a:rPr lang="en-GB" sz="1400" dirty="0" err="1"/>
            <a:t>cez</a:t>
          </a:r>
          <a:r>
            <a:rPr lang="en-GB" sz="1400" dirty="0"/>
            <a:t> PyTorch transforms</a:t>
          </a:r>
          <a:endParaRPr lang="en-US" sz="1400" dirty="0"/>
        </a:p>
      </dgm:t>
    </dgm:pt>
    <dgm:pt modelId="{FCB72D6B-D716-4554-BA6E-BE17B79B2453}" type="parTrans" cxnId="{E80040B1-80AC-42C9-A28A-BCB73CA14E64}">
      <dgm:prSet/>
      <dgm:spPr/>
      <dgm:t>
        <a:bodyPr/>
        <a:lstStyle/>
        <a:p>
          <a:endParaRPr lang="en-US"/>
        </a:p>
      </dgm:t>
    </dgm:pt>
    <dgm:pt modelId="{C6A8462B-5408-4098-912A-91C364138148}" type="sibTrans" cxnId="{E80040B1-80AC-42C9-A28A-BCB73CA14E64}">
      <dgm:prSet/>
      <dgm:spPr/>
      <dgm:t>
        <a:bodyPr/>
        <a:lstStyle/>
        <a:p>
          <a:endParaRPr lang="en-US"/>
        </a:p>
      </dgm:t>
    </dgm:pt>
    <dgm:pt modelId="{A564F7EB-521A-4E06-96E3-11193C500754}" type="pres">
      <dgm:prSet presAssocID="{0810A09C-061F-4436-B6CF-8C748E657785}" presName="root" presStyleCnt="0">
        <dgm:presLayoutVars>
          <dgm:dir/>
          <dgm:resizeHandles val="exact"/>
        </dgm:presLayoutVars>
      </dgm:prSet>
      <dgm:spPr/>
    </dgm:pt>
    <dgm:pt modelId="{47FD30C1-3BD8-4364-BEF0-666D91A1A651}" type="pres">
      <dgm:prSet presAssocID="{0810A09C-061F-4436-B6CF-8C748E657785}" presName="container" presStyleCnt="0">
        <dgm:presLayoutVars>
          <dgm:dir/>
          <dgm:resizeHandles val="exact"/>
        </dgm:presLayoutVars>
      </dgm:prSet>
      <dgm:spPr/>
    </dgm:pt>
    <dgm:pt modelId="{3B20043D-B826-448B-ACA4-DE4AC8703A34}" type="pres">
      <dgm:prSet presAssocID="{25F8061B-5EF7-4E66-8CB7-69CAE7626328}" presName="compNode" presStyleCnt="0"/>
      <dgm:spPr/>
    </dgm:pt>
    <dgm:pt modelId="{E88F08CD-BC3B-4BE5-BA70-34AB7B848137}" type="pres">
      <dgm:prSet presAssocID="{25F8061B-5EF7-4E66-8CB7-69CAE7626328}" presName="iconBgRect" presStyleLbl="bgShp" presStyleIdx="0" presStyleCnt="4"/>
      <dgm:spPr/>
    </dgm:pt>
    <dgm:pt modelId="{FE038451-997E-4418-915E-7DC2AAD8017E}" type="pres">
      <dgm:prSet presAssocID="{25F8061B-5EF7-4E66-8CB7-69CAE76263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4EEA8D3-D82A-4F66-AD0E-3E52129DDF26}" type="pres">
      <dgm:prSet presAssocID="{25F8061B-5EF7-4E66-8CB7-69CAE7626328}" presName="spaceRect" presStyleCnt="0"/>
      <dgm:spPr/>
    </dgm:pt>
    <dgm:pt modelId="{5CC54A6A-D213-4ACF-9AA9-79202FA8691F}" type="pres">
      <dgm:prSet presAssocID="{25F8061B-5EF7-4E66-8CB7-69CAE7626328}" presName="textRect" presStyleLbl="revTx" presStyleIdx="0" presStyleCnt="4">
        <dgm:presLayoutVars>
          <dgm:chMax val="1"/>
          <dgm:chPref val="1"/>
        </dgm:presLayoutVars>
      </dgm:prSet>
      <dgm:spPr/>
    </dgm:pt>
    <dgm:pt modelId="{6EFAE6EF-3A5E-4124-A6CD-A75F45CC07DF}" type="pres">
      <dgm:prSet presAssocID="{A1EB4C14-6D67-4D42-8392-62FAC160F1AB}" presName="sibTrans" presStyleLbl="sibTrans2D1" presStyleIdx="0" presStyleCnt="0"/>
      <dgm:spPr/>
    </dgm:pt>
    <dgm:pt modelId="{E100009E-658B-49C1-986E-7C582DFFC753}" type="pres">
      <dgm:prSet presAssocID="{179AAACC-0219-440D-9E42-9DC9269620B7}" presName="compNode" presStyleCnt="0"/>
      <dgm:spPr/>
    </dgm:pt>
    <dgm:pt modelId="{A742F8AA-EB45-4152-94F8-081640085274}" type="pres">
      <dgm:prSet presAssocID="{179AAACC-0219-440D-9E42-9DC9269620B7}" presName="iconBgRect" presStyleLbl="bgShp" presStyleIdx="1" presStyleCnt="4"/>
      <dgm:spPr/>
    </dgm:pt>
    <dgm:pt modelId="{8691FFDC-BA77-4BBC-9EAA-FBA872785205}" type="pres">
      <dgm:prSet presAssocID="{179AAACC-0219-440D-9E42-9DC9269620B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522CE2A4-A04A-49D2-88E4-DE8F3BDA7B5E}" type="pres">
      <dgm:prSet presAssocID="{179AAACC-0219-440D-9E42-9DC9269620B7}" presName="spaceRect" presStyleCnt="0"/>
      <dgm:spPr/>
    </dgm:pt>
    <dgm:pt modelId="{145DFDD0-1098-4D34-BBDD-98677AA89E75}" type="pres">
      <dgm:prSet presAssocID="{179AAACC-0219-440D-9E42-9DC9269620B7}" presName="textRect" presStyleLbl="revTx" presStyleIdx="1" presStyleCnt="4">
        <dgm:presLayoutVars>
          <dgm:chMax val="1"/>
          <dgm:chPref val="1"/>
        </dgm:presLayoutVars>
      </dgm:prSet>
      <dgm:spPr/>
    </dgm:pt>
    <dgm:pt modelId="{E1CCF408-61C3-4837-B554-29F0BE6FB3E6}" type="pres">
      <dgm:prSet presAssocID="{9283883C-0074-4240-9C76-A62466475F86}" presName="sibTrans" presStyleLbl="sibTrans2D1" presStyleIdx="0" presStyleCnt="0"/>
      <dgm:spPr/>
    </dgm:pt>
    <dgm:pt modelId="{70B531F5-F4BC-4F08-8437-BDF2FEEF75B4}" type="pres">
      <dgm:prSet presAssocID="{2425D0C9-738E-4137-9088-908521B53771}" presName="compNode" presStyleCnt="0"/>
      <dgm:spPr/>
    </dgm:pt>
    <dgm:pt modelId="{82A2D6FA-C3C9-4984-AC66-8D8B024D3762}" type="pres">
      <dgm:prSet presAssocID="{2425D0C9-738E-4137-9088-908521B53771}" presName="iconBgRect" presStyleLbl="bgShp" presStyleIdx="2" presStyleCnt="4"/>
      <dgm:spPr/>
    </dgm:pt>
    <dgm:pt modelId="{0707B353-3DC2-448B-AF1C-759C6DE7F9E2}" type="pres">
      <dgm:prSet presAssocID="{2425D0C9-738E-4137-9088-908521B537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lt And Pepper with solid fill"/>
        </a:ext>
      </dgm:extLst>
    </dgm:pt>
    <dgm:pt modelId="{2765F66E-7C10-4743-BC62-071D441BA038}" type="pres">
      <dgm:prSet presAssocID="{2425D0C9-738E-4137-9088-908521B53771}" presName="spaceRect" presStyleCnt="0"/>
      <dgm:spPr/>
    </dgm:pt>
    <dgm:pt modelId="{C1864CFB-E281-4163-8A07-153C68B63A20}" type="pres">
      <dgm:prSet presAssocID="{2425D0C9-738E-4137-9088-908521B53771}" presName="textRect" presStyleLbl="revTx" presStyleIdx="2" presStyleCnt="4" custScaleX="104241">
        <dgm:presLayoutVars>
          <dgm:chMax val="1"/>
          <dgm:chPref val="1"/>
        </dgm:presLayoutVars>
      </dgm:prSet>
      <dgm:spPr/>
    </dgm:pt>
    <dgm:pt modelId="{6E3D5576-9CF2-46C0-823A-D24A0C63D7A2}" type="pres">
      <dgm:prSet presAssocID="{3B851674-12E3-43C5-9F1C-809F92DB2F68}" presName="sibTrans" presStyleLbl="sibTrans2D1" presStyleIdx="0" presStyleCnt="0"/>
      <dgm:spPr/>
    </dgm:pt>
    <dgm:pt modelId="{8F65A7DA-4905-430E-A57F-00BBFC2D223B}" type="pres">
      <dgm:prSet presAssocID="{7E5CEC00-5F5A-40B1-8162-A33BA386090C}" presName="compNode" presStyleCnt="0"/>
      <dgm:spPr/>
    </dgm:pt>
    <dgm:pt modelId="{9B5CD21D-D04F-42AA-8B35-C6A1ECFBA2DA}" type="pres">
      <dgm:prSet presAssocID="{7E5CEC00-5F5A-40B1-8162-A33BA386090C}" presName="iconBgRect" presStyleLbl="bgShp" presStyleIdx="3" presStyleCnt="4"/>
      <dgm:spPr/>
    </dgm:pt>
    <dgm:pt modelId="{7987DB26-4C51-4430-9466-29215B5DCC27}" type="pres">
      <dgm:prSet presAssocID="{7E5CEC00-5F5A-40B1-8162-A33BA386090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F04A375-A58B-43DD-92A3-649347744911}" type="pres">
      <dgm:prSet presAssocID="{7E5CEC00-5F5A-40B1-8162-A33BA386090C}" presName="spaceRect" presStyleCnt="0"/>
      <dgm:spPr/>
    </dgm:pt>
    <dgm:pt modelId="{ED14DC4E-5499-4501-B693-11A9A90FB458}" type="pres">
      <dgm:prSet presAssocID="{7E5CEC00-5F5A-40B1-8162-A33BA386090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7C7761B-2342-411D-B0C1-8E1BF1897BF0}" type="presOf" srcId="{2425D0C9-738E-4137-9088-908521B53771}" destId="{C1864CFB-E281-4163-8A07-153C68B63A20}" srcOrd="0" destOrd="0" presId="urn:microsoft.com/office/officeart/2018/2/layout/IconCircleList"/>
    <dgm:cxn modelId="{EB083024-31B8-47A3-B91F-8601A6EAC1D3}" type="presOf" srcId="{0810A09C-061F-4436-B6CF-8C748E657785}" destId="{A564F7EB-521A-4E06-96E3-11193C500754}" srcOrd="0" destOrd="0" presId="urn:microsoft.com/office/officeart/2018/2/layout/IconCircleList"/>
    <dgm:cxn modelId="{475E5829-1FAE-4938-90BC-09F5493AF12D}" type="presOf" srcId="{A1EB4C14-6D67-4D42-8392-62FAC160F1AB}" destId="{6EFAE6EF-3A5E-4124-A6CD-A75F45CC07DF}" srcOrd="0" destOrd="0" presId="urn:microsoft.com/office/officeart/2018/2/layout/IconCircleList"/>
    <dgm:cxn modelId="{99530C35-6C64-4BF2-8CD7-DB73D3305214}" type="presOf" srcId="{3B851674-12E3-43C5-9F1C-809F92DB2F68}" destId="{6E3D5576-9CF2-46C0-823A-D24A0C63D7A2}" srcOrd="0" destOrd="0" presId="urn:microsoft.com/office/officeart/2018/2/layout/IconCircleList"/>
    <dgm:cxn modelId="{D6A1D244-FAAA-4EDC-AD9E-8219CB78AD32}" type="presOf" srcId="{9283883C-0074-4240-9C76-A62466475F86}" destId="{E1CCF408-61C3-4837-B554-29F0BE6FB3E6}" srcOrd="0" destOrd="0" presId="urn:microsoft.com/office/officeart/2018/2/layout/IconCircleList"/>
    <dgm:cxn modelId="{19F72165-E39D-4703-9AC7-A7617882E561}" srcId="{0810A09C-061F-4436-B6CF-8C748E657785}" destId="{25F8061B-5EF7-4E66-8CB7-69CAE7626328}" srcOrd="0" destOrd="0" parTransId="{8047F713-7731-44F8-9E6B-FD6E8FA6AB64}" sibTransId="{A1EB4C14-6D67-4D42-8392-62FAC160F1AB}"/>
    <dgm:cxn modelId="{F88F4A65-D044-4BB5-8473-28F67929B30F}" srcId="{0810A09C-061F-4436-B6CF-8C748E657785}" destId="{179AAACC-0219-440D-9E42-9DC9269620B7}" srcOrd="1" destOrd="0" parTransId="{D8585985-B83F-4080-B6DB-933DD4659FA0}" sibTransId="{9283883C-0074-4240-9C76-A62466475F86}"/>
    <dgm:cxn modelId="{4A472770-119D-484D-8223-6D759E28322D}" type="presOf" srcId="{25F8061B-5EF7-4E66-8CB7-69CAE7626328}" destId="{5CC54A6A-D213-4ACF-9AA9-79202FA8691F}" srcOrd="0" destOrd="0" presId="urn:microsoft.com/office/officeart/2018/2/layout/IconCircleList"/>
    <dgm:cxn modelId="{31AE7CA0-B392-46F0-84C3-EA30544AD6CB}" srcId="{0810A09C-061F-4436-B6CF-8C748E657785}" destId="{2425D0C9-738E-4137-9088-908521B53771}" srcOrd="2" destOrd="0" parTransId="{EB97EC0C-C71A-47FB-A93B-315F600B3228}" sibTransId="{3B851674-12E3-43C5-9F1C-809F92DB2F68}"/>
    <dgm:cxn modelId="{E80040B1-80AC-42C9-A28A-BCB73CA14E64}" srcId="{0810A09C-061F-4436-B6CF-8C748E657785}" destId="{7E5CEC00-5F5A-40B1-8162-A33BA386090C}" srcOrd="3" destOrd="0" parTransId="{FCB72D6B-D716-4554-BA6E-BE17B79B2453}" sibTransId="{C6A8462B-5408-4098-912A-91C364138148}"/>
    <dgm:cxn modelId="{877104C1-3F9E-4A0D-B656-E21C8649CA47}" type="presOf" srcId="{179AAACC-0219-440D-9E42-9DC9269620B7}" destId="{145DFDD0-1098-4D34-BBDD-98677AA89E75}" srcOrd="0" destOrd="0" presId="urn:microsoft.com/office/officeart/2018/2/layout/IconCircleList"/>
    <dgm:cxn modelId="{E4C1B6C3-BBF0-4100-B597-4DF9E0D27700}" type="presOf" srcId="{7E5CEC00-5F5A-40B1-8162-A33BA386090C}" destId="{ED14DC4E-5499-4501-B693-11A9A90FB458}" srcOrd="0" destOrd="0" presId="urn:microsoft.com/office/officeart/2018/2/layout/IconCircleList"/>
    <dgm:cxn modelId="{61071359-BA60-4B91-A97F-BD745A2F3169}" type="presParOf" srcId="{A564F7EB-521A-4E06-96E3-11193C500754}" destId="{47FD30C1-3BD8-4364-BEF0-666D91A1A651}" srcOrd="0" destOrd="0" presId="urn:microsoft.com/office/officeart/2018/2/layout/IconCircleList"/>
    <dgm:cxn modelId="{23660EE1-74B4-4CC4-9A34-1B1051FD60B8}" type="presParOf" srcId="{47FD30C1-3BD8-4364-BEF0-666D91A1A651}" destId="{3B20043D-B826-448B-ACA4-DE4AC8703A34}" srcOrd="0" destOrd="0" presId="urn:microsoft.com/office/officeart/2018/2/layout/IconCircleList"/>
    <dgm:cxn modelId="{11ED9377-F205-44AA-854B-C3082DEB5576}" type="presParOf" srcId="{3B20043D-B826-448B-ACA4-DE4AC8703A34}" destId="{E88F08CD-BC3B-4BE5-BA70-34AB7B848137}" srcOrd="0" destOrd="0" presId="urn:microsoft.com/office/officeart/2018/2/layout/IconCircleList"/>
    <dgm:cxn modelId="{9F75EDAE-E34E-4893-8C28-01D021B438B5}" type="presParOf" srcId="{3B20043D-B826-448B-ACA4-DE4AC8703A34}" destId="{FE038451-997E-4418-915E-7DC2AAD8017E}" srcOrd="1" destOrd="0" presId="urn:microsoft.com/office/officeart/2018/2/layout/IconCircleList"/>
    <dgm:cxn modelId="{6DD2B0D5-C316-4219-8152-52843A5A39B9}" type="presParOf" srcId="{3B20043D-B826-448B-ACA4-DE4AC8703A34}" destId="{64EEA8D3-D82A-4F66-AD0E-3E52129DDF26}" srcOrd="2" destOrd="0" presId="urn:microsoft.com/office/officeart/2018/2/layout/IconCircleList"/>
    <dgm:cxn modelId="{E10C8861-CC6F-4C6D-A43C-EFD169516B35}" type="presParOf" srcId="{3B20043D-B826-448B-ACA4-DE4AC8703A34}" destId="{5CC54A6A-D213-4ACF-9AA9-79202FA8691F}" srcOrd="3" destOrd="0" presId="urn:microsoft.com/office/officeart/2018/2/layout/IconCircleList"/>
    <dgm:cxn modelId="{5B2561BC-826F-4B8A-A555-EA443BE7D7C1}" type="presParOf" srcId="{47FD30C1-3BD8-4364-BEF0-666D91A1A651}" destId="{6EFAE6EF-3A5E-4124-A6CD-A75F45CC07DF}" srcOrd="1" destOrd="0" presId="urn:microsoft.com/office/officeart/2018/2/layout/IconCircleList"/>
    <dgm:cxn modelId="{D7640CF3-8AF0-4113-BE6C-4AAC2F0A33E6}" type="presParOf" srcId="{47FD30C1-3BD8-4364-BEF0-666D91A1A651}" destId="{E100009E-658B-49C1-986E-7C582DFFC753}" srcOrd="2" destOrd="0" presId="urn:microsoft.com/office/officeart/2018/2/layout/IconCircleList"/>
    <dgm:cxn modelId="{A2620E4E-68B2-4567-939E-2DDF18CE3FF4}" type="presParOf" srcId="{E100009E-658B-49C1-986E-7C582DFFC753}" destId="{A742F8AA-EB45-4152-94F8-081640085274}" srcOrd="0" destOrd="0" presId="urn:microsoft.com/office/officeart/2018/2/layout/IconCircleList"/>
    <dgm:cxn modelId="{7BE1478E-F53A-4A91-A5AA-92398581A8EF}" type="presParOf" srcId="{E100009E-658B-49C1-986E-7C582DFFC753}" destId="{8691FFDC-BA77-4BBC-9EAA-FBA872785205}" srcOrd="1" destOrd="0" presId="urn:microsoft.com/office/officeart/2018/2/layout/IconCircleList"/>
    <dgm:cxn modelId="{61E6ED6A-62C8-482A-9C82-A8F4BE407827}" type="presParOf" srcId="{E100009E-658B-49C1-986E-7C582DFFC753}" destId="{522CE2A4-A04A-49D2-88E4-DE8F3BDA7B5E}" srcOrd="2" destOrd="0" presId="urn:microsoft.com/office/officeart/2018/2/layout/IconCircleList"/>
    <dgm:cxn modelId="{E9EE55D6-4E3C-4289-9F4B-CA021CFC0AF5}" type="presParOf" srcId="{E100009E-658B-49C1-986E-7C582DFFC753}" destId="{145DFDD0-1098-4D34-BBDD-98677AA89E75}" srcOrd="3" destOrd="0" presId="urn:microsoft.com/office/officeart/2018/2/layout/IconCircleList"/>
    <dgm:cxn modelId="{B51AE943-83E7-4D93-9AAC-D93CC5B714C3}" type="presParOf" srcId="{47FD30C1-3BD8-4364-BEF0-666D91A1A651}" destId="{E1CCF408-61C3-4837-B554-29F0BE6FB3E6}" srcOrd="3" destOrd="0" presId="urn:microsoft.com/office/officeart/2018/2/layout/IconCircleList"/>
    <dgm:cxn modelId="{EC4F39AA-4C41-44DA-B9B1-710AD0A86777}" type="presParOf" srcId="{47FD30C1-3BD8-4364-BEF0-666D91A1A651}" destId="{70B531F5-F4BC-4F08-8437-BDF2FEEF75B4}" srcOrd="4" destOrd="0" presId="urn:microsoft.com/office/officeart/2018/2/layout/IconCircleList"/>
    <dgm:cxn modelId="{DD33C9F4-56DA-438B-9E54-FC0AE6DB6158}" type="presParOf" srcId="{70B531F5-F4BC-4F08-8437-BDF2FEEF75B4}" destId="{82A2D6FA-C3C9-4984-AC66-8D8B024D3762}" srcOrd="0" destOrd="0" presId="urn:microsoft.com/office/officeart/2018/2/layout/IconCircleList"/>
    <dgm:cxn modelId="{AF4C1226-C071-456D-9E8A-EF48EC0C28D9}" type="presParOf" srcId="{70B531F5-F4BC-4F08-8437-BDF2FEEF75B4}" destId="{0707B353-3DC2-448B-AF1C-759C6DE7F9E2}" srcOrd="1" destOrd="0" presId="urn:microsoft.com/office/officeart/2018/2/layout/IconCircleList"/>
    <dgm:cxn modelId="{A687EF4A-F771-40FA-878E-24A1E569C3D4}" type="presParOf" srcId="{70B531F5-F4BC-4F08-8437-BDF2FEEF75B4}" destId="{2765F66E-7C10-4743-BC62-071D441BA038}" srcOrd="2" destOrd="0" presId="urn:microsoft.com/office/officeart/2018/2/layout/IconCircleList"/>
    <dgm:cxn modelId="{01263DC2-15FA-44F7-8CE1-D0D5DFD5F50E}" type="presParOf" srcId="{70B531F5-F4BC-4F08-8437-BDF2FEEF75B4}" destId="{C1864CFB-E281-4163-8A07-153C68B63A20}" srcOrd="3" destOrd="0" presId="urn:microsoft.com/office/officeart/2018/2/layout/IconCircleList"/>
    <dgm:cxn modelId="{B94CD37E-70EC-4F63-8CC3-0791FFC4C9C4}" type="presParOf" srcId="{47FD30C1-3BD8-4364-BEF0-666D91A1A651}" destId="{6E3D5576-9CF2-46C0-823A-D24A0C63D7A2}" srcOrd="5" destOrd="0" presId="urn:microsoft.com/office/officeart/2018/2/layout/IconCircleList"/>
    <dgm:cxn modelId="{2751E689-1075-480A-A84F-5DEF59FE2BF2}" type="presParOf" srcId="{47FD30C1-3BD8-4364-BEF0-666D91A1A651}" destId="{8F65A7DA-4905-430E-A57F-00BBFC2D223B}" srcOrd="6" destOrd="0" presId="urn:microsoft.com/office/officeart/2018/2/layout/IconCircleList"/>
    <dgm:cxn modelId="{95135489-AAFF-41B3-B946-EF8652C19218}" type="presParOf" srcId="{8F65A7DA-4905-430E-A57F-00BBFC2D223B}" destId="{9B5CD21D-D04F-42AA-8B35-C6A1ECFBA2DA}" srcOrd="0" destOrd="0" presId="urn:microsoft.com/office/officeart/2018/2/layout/IconCircleList"/>
    <dgm:cxn modelId="{3E871450-48FD-4FC3-BBD7-65479DC48D3E}" type="presParOf" srcId="{8F65A7DA-4905-430E-A57F-00BBFC2D223B}" destId="{7987DB26-4C51-4430-9466-29215B5DCC27}" srcOrd="1" destOrd="0" presId="urn:microsoft.com/office/officeart/2018/2/layout/IconCircleList"/>
    <dgm:cxn modelId="{55F15B34-69E1-4617-AC31-3D7C55AC3440}" type="presParOf" srcId="{8F65A7DA-4905-430E-A57F-00BBFC2D223B}" destId="{EF04A375-A58B-43DD-92A3-649347744911}" srcOrd="2" destOrd="0" presId="urn:microsoft.com/office/officeart/2018/2/layout/IconCircleList"/>
    <dgm:cxn modelId="{D811E2B7-BB88-4E4A-B1EE-B94F1B60B02C}" type="presParOf" srcId="{8F65A7DA-4905-430E-A57F-00BBFC2D223B}" destId="{ED14DC4E-5499-4501-B693-11A9A90FB45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E0F63-3DD9-49ED-B2D7-1EF00ADAB5C3}">
      <dsp:nvSpPr>
        <dsp:cNvPr id="0" name=""/>
        <dsp:cNvSpPr/>
      </dsp:nvSpPr>
      <dsp:spPr>
        <a:xfrm>
          <a:off x="891746" y="2261"/>
          <a:ext cx="796693" cy="79669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E42C8B-5FFC-43C2-AD0A-DFBAEA6C862F}">
      <dsp:nvSpPr>
        <dsp:cNvPr id="0" name=""/>
        <dsp:cNvSpPr/>
      </dsp:nvSpPr>
      <dsp:spPr>
        <a:xfrm>
          <a:off x="1061533" y="172048"/>
          <a:ext cx="457119" cy="4571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2B248-B324-44CE-846C-2D885AC5B793}">
      <dsp:nvSpPr>
        <dsp:cNvPr id="0" name=""/>
        <dsp:cNvSpPr/>
      </dsp:nvSpPr>
      <dsp:spPr>
        <a:xfrm>
          <a:off x="637066" y="1047105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b="1" kern="1200" dirty="0"/>
            <a:t>Oxford-IIIT Pet: 37 tried, &gt;7000 </a:t>
          </a:r>
          <a:r>
            <a:rPr lang="en-GB" sz="1200" b="1" kern="1200" dirty="0" err="1"/>
            <a:t>obrázkov</a:t>
          </a:r>
          <a:endParaRPr lang="en-US" sz="1200" b="1" kern="1200" dirty="0"/>
        </a:p>
      </dsp:txBody>
      <dsp:txXfrm>
        <a:off x="637066" y="1047105"/>
        <a:ext cx="1306054" cy="522421"/>
      </dsp:txXfrm>
    </dsp:sp>
    <dsp:sp modelId="{E9CAF574-7287-47AD-A0DF-DDC8B60B6E4E}">
      <dsp:nvSpPr>
        <dsp:cNvPr id="0" name=""/>
        <dsp:cNvSpPr/>
      </dsp:nvSpPr>
      <dsp:spPr>
        <a:xfrm>
          <a:off x="2426360" y="2261"/>
          <a:ext cx="796693" cy="79669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1967C-2D7E-4FEE-AF8A-47680D3440EE}">
      <dsp:nvSpPr>
        <dsp:cNvPr id="0" name=""/>
        <dsp:cNvSpPr/>
      </dsp:nvSpPr>
      <dsp:spPr>
        <a:xfrm>
          <a:off x="2596148" y="172048"/>
          <a:ext cx="457119" cy="4571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CD9A8-D933-4C19-9D8F-FFA451AE8F33}">
      <dsp:nvSpPr>
        <dsp:cNvPr id="0" name=""/>
        <dsp:cNvSpPr/>
      </dsp:nvSpPr>
      <dsp:spPr>
        <a:xfrm>
          <a:off x="2171680" y="1047105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b="1" kern="1200" dirty="0"/>
            <a:t>Split train/</a:t>
          </a:r>
          <a:r>
            <a:rPr lang="en-GB" sz="1200" b="1" kern="1200" dirty="0" err="1"/>
            <a:t>val</a:t>
          </a:r>
          <a:r>
            <a:rPr lang="en-GB" sz="1200" b="1" kern="1200" dirty="0"/>
            <a:t>/test = 80/10/10 (seed=42)</a:t>
          </a:r>
          <a:endParaRPr lang="en-US" sz="1200" b="1" kern="1200" dirty="0"/>
        </a:p>
      </dsp:txBody>
      <dsp:txXfrm>
        <a:off x="2171680" y="1047105"/>
        <a:ext cx="1306054" cy="522421"/>
      </dsp:txXfrm>
    </dsp:sp>
    <dsp:sp modelId="{CE2FACED-56B0-4B09-89CC-CA51F853DD6B}">
      <dsp:nvSpPr>
        <dsp:cNvPr id="0" name=""/>
        <dsp:cNvSpPr/>
      </dsp:nvSpPr>
      <dsp:spPr>
        <a:xfrm>
          <a:off x="1659053" y="1896040"/>
          <a:ext cx="796693" cy="79669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605C3-C1F2-4903-8A11-C334CDC21106}">
      <dsp:nvSpPr>
        <dsp:cNvPr id="0" name=""/>
        <dsp:cNvSpPr/>
      </dsp:nvSpPr>
      <dsp:spPr>
        <a:xfrm>
          <a:off x="1828840" y="2065827"/>
          <a:ext cx="457119" cy="4571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6ED88-A940-457C-86A9-05B2EE0457D8}">
      <dsp:nvSpPr>
        <dsp:cNvPr id="0" name=""/>
        <dsp:cNvSpPr/>
      </dsp:nvSpPr>
      <dsp:spPr>
        <a:xfrm>
          <a:off x="1404373" y="2940884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b="1" kern="1200" dirty="0" err="1"/>
            <a:t>Augmentácie</a:t>
          </a:r>
          <a:r>
            <a:rPr lang="en-GB" sz="1200" b="1" kern="1200" dirty="0"/>
            <a:t>: geometric (flip, rotate) + </a:t>
          </a:r>
          <a:r>
            <a:rPr lang="en-GB" sz="1200" b="1" kern="1200" dirty="0" err="1"/>
            <a:t>color</a:t>
          </a:r>
          <a:r>
            <a:rPr lang="en-GB" sz="1200" b="1" kern="1200" dirty="0"/>
            <a:t> jitter</a:t>
          </a:r>
          <a:endParaRPr lang="en-US" sz="1200" b="1" kern="1200" dirty="0"/>
        </a:p>
      </dsp:txBody>
      <dsp:txXfrm>
        <a:off x="1404373" y="2940884"/>
        <a:ext cx="1306054" cy="5224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F08CD-BC3B-4BE5-BA70-34AB7B848137}">
      <dsp:nvSpPr>
        <dsp:cNvPr id="0" name=""/>
        <dsp:cNvSpPr/>
      </dsp:nvSpPr>
      <dsp:spPr>
        <a:xfrm>
          <a:off x="88241" y="1502406"/>
          <a:ext cx="690564" cy="6905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38451-997E-4418-915E-7DC2AAD8017E}">
      <dsp:nvSpPr>
        <dsp:cNvPr id="0" name=""/>
        <dsp:cNvSpPr/>
      </dsp:nvSpPr>
      <dsp:spPr>
        <a:xfrm>
          <a:off x="233259" y="1647425"/>
          <a:ext cx="400527" cy="4005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54A6A-D213-4ACF-9AA9-79202FA8691F}">
      <dsp:nvSpPr>
        <dsp:cNvPr id="0" name=""/>
        <dsp:cNvSpPr/>
      </dsp:nvSpPr>
      <dsp:spPr>
        <a:xfrm>
          <a:off x="926783" y="1502406"/>
          <a:ext cx="1627759" cy="690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Gaussian: </a:t>
          </a:r>
          <a:r>
            <a:rPr lang="el-GR" sz="1400" kern="1200" dirty="0"/>
            <a:t>μ=0,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kern="1200" dirty="0"/>
            <a:t>σ ∈ {0</a:t>
          </a:r>
          <a:r>
            <a:rPr lang="en-US" sz="1400" kern="1200" dirty="0"/>
            <a:t>,</a:t>
          </a:r>
          <a:r>
            <a:rPr lang="el-GR" sz="1400" kern="1200" dirty="0"/>
            <a:t>01</a:t>
          </a:r>
          <a:r>
            <a:rPr lang="en-US" sz="1400" kern="1200" dirty="0"/>
            <a:t>;</a:t>
          </a:r>
          <a:r>
            <a:rPr lang="el-GR" sz="1400" kern="1200" dirty="0"/>
            <a:t> 0</a:t>
          </a:r>
          <a:r>
            <a:rPr lang="en-US" sz="1400" kern="1200" dirty="0"/>
            <a:t>,3</a:t>
          </a:r>
          <a:r>
            <a:rPr lang="el-GR" sz="1400" kern="1200" dirty="0"/>
            <a:t>}</a:t>
          </a:r>
          <a:endParaRPr lang="en-US" sz="1400" kern="1200" dirty="0"/>
        </a:p>
      </dsp:txBody>
      <dsp:txXfrm>
        <a:off x="926783" y="1502406"/>
        <a:ext cx="1627759" cy="690564"/>
      </dsp:txXfrm>
    </dsp:sp>
    <dsp:sp modelId="{A742F8AA-EB45-4152-94F8-081640085274}">
      <dsp:nvSpPr>
        <dsp:cNvPr id="0" name=""/>
        <dsp:cNvSpPr/>
      </dsp:nvSpPr>
      <dsp:spPr>
        <a:xfrm>
          <a:off x="2838168" y="1502406"/>
          <a:ext cx="690564" cy="6905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1FFDC-BA77-4BBC-9EAA-FBA872785205}">
      <dsp:nvSpPr>
        <dsp:cNvPr id="0" name=""/>
        <dsp:cNvSpPr/>
      </dsp:nvSpPr>
      <dsp:spPr>
        <a:xfrm>
          <a:off x="2983187" y="1647425"/>
          <a:ext cx="400527" cy="4005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DFDD0-1098-4D34-BBDD-98677AA89E75}">
      <dsp:nvSpPr>
        <dsp:cNvPr id="0" name=""/>
        <dsp:cNvSpPr/>
      </dsp:nvSpPr>
      <dsp:spPr>
        <a:xfrm>
          <a:off x="3676711" y="1502406"/>
          <a:ext cx="1627759" cy="690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Poisson: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kern="1200" dirty="0"/>
            <a:t>λ ∈ {10</a:t>
          </a:r>
          <a:r>
            <a:rPr lang="en-US" sz="1400" kern="1200" dirty="0"/>
            <a:t>;</a:t>
          </a:r>
          <a:r>
            <a:rPr lang="el-GR" sz="1400" kern="1200" dirty="0"/>
            <a:t> 100}</a:t>
          </a:r>
          <a:endParaRPr lang="en-US" sz="1400" kern="1200" dirty="0"/>
        </a:p>
      </dsp:txBody>
      <dsp:txXfrm>
        <a:off x="3676711" y="1502406"/>
        <a:ext cx="1627759" cy="690564"/>
      </dsp:txXfrm>
    </dsp:sp>
    <dsp:sp modelId="{82A2D6FA-C3C9-4984-AC66-8D8B024D3762}">
      <dsp:nvSpPr>
        <dsp:cNvPr id="0" name=""/>
        <dsp:cNvSpPr/>
      </dsp:nvSpPr>
      <dsp:spPr>
        <a:xfrm>
          <a:off x="88241" y="3091296"/>
          <a:ext cx="690564" cy="6905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07B353-3DC2-448B-AF1C-759C6DE7F9E2}">
      <dsp:nvSpPr>
        <dsp:cNvPr id="0" name=""/>
        <dsp:cNvSpPr/>
      </dsp:nvSpPr>
      <dsp:spPr>
        <a:xfrm>
          <a:off x="233259" y="3236315"/>
          <a:ext cx="400527" cy="4005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64CFB-E281-4163-8A07-153C68B63A20}">
      <dsp:nvSpPr>
        <dsp:cNvPr id="0" name=""/>
        <dsp:cNvSpPr/>
      </dsp:nvSpPr>
      <dsp:spPr>
        <a:xfrm>
          <a:off x="892267" y="3091296"/>
          <a:ext cx="1696793" cy="690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Salt&amp;Pepper</a:t>
          </a:r>
          <a:r>
            <a:rPr lang="en-GB" sz="1400" kern="1200" dirty="0"/>
            <a:t>: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amount ∈ {0,005; 0,05}</a:t>
          </a:r>
          <a:endParaRPr lang="en-US" sz="1400" kern="1200" dirty="0"/>
        </a:p>
      </dsp:txBody>
      <dsp:txXfrm>
        <a:off x="892267" y="3091296"/>
        <a:ext cx="1696793" cy="690564"/>
      </dsp:txXfrm>
    </dsp:sp>
    <dsp:sp modelId="{9B5CD21D-D04F-42AA-8B35-C6A1ECFBA2DA}">
      <dsp:nvSpPr>
        <dsp:cNvPr id="0" name=""/>
        <dsp:cNvSpPr/>
      </dsp:nvSpPr>
      <dsp:spPr>
        <a:xfrm>
          <a:off x="2872685" y="3091296"/>
          <a:ext cx="690564" cy="6905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7DB26-4C51-4430-9466-29215B5DCC27}">
      <dsp:nvSpPr>
        <dsp:cNvPr id="0" name=""/>
        <dsp:cNvSpPr/>
      </dsp:nvSpPr>
      <dsp:spPr>
        <a:xfrm>
          <a:off x="3017703" y="3236315"/>
          <a:ext cx="400527" cy="4005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4DC4E-5499-4501-B693-11A9A90FB458}">
      <dsp:nvSpPr>
        <dsp:cNvPr id="0" name=""/>
        <dsp:cNvSpPr/>
      </dsp:nvSpPr>
      <dsp:spPr>
        <a:xfrm>
          <a:off x="3711228" y="3091296"/>
          <a:ext cx="1627759" cy="690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Implementácia</a:t>
          </a:r>
          <a:r>
            <a:rPr lang="en-GB" sz="1400" kern="1200" dirty="0"/>
            <a:t> </a:t>
          </a:r>
          <a:r>
            <a:rPr lang="en-GB" sz="1400" kern="1200" dirty="0" err="1"/>
            <a:t>cez</a:t>
          </a:r>
          <a:r>
            <a:rPr lang="en-GB" sz="1400" kern="1200" dirty="0"/>
            <a:t> PyTorch transforms</a:t>
          </a:r>
          <a:endParaRPr lang="en-US" sz="1400" kern="1200" dirty="0"/>
        </a:p>
      </dsp:txBody>
      <dsp:txXfrm>
        <a:off x="3711228" y="3091296"/>
        <a:ext cx="1627759" cy="690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7832" y="1542402"/>
            <a:ext cx="9436029" cy="238791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000" dirty="0" err="1">
                <a:solidFill>
                  <a:schemeClr val="tx2"/>
                </a:solidFill>
              </a:rPr>
              <a:t>Zlepšenie</a:t>
            </a:r>
            <a:r>
              <a:rPr lang="en-GB" sz="4000" dirty="0">
                <a:solidFill>
                  <a:schemeClr val="tx2"/>
                </a:solidFill>
              </a:rPr>
              <a:t> </a:t>
            </a:r>
            <a:r>
              <a:rPr lang="en-GB" sz="4000" dirty="0" err="1">
                <a:solidFill>
                  <a:schemeClr val="tx2"/>
                </a:solidFill>
              </a:rPr>
              <a:t>presnosti</a:t>
            </a:r>
            <a:r>
              <a:rPr lang="en-GB" sz="4000" dirty="0">
                <a:solidFill>
                  <a:schemeClr val="tx2"/>
                </a:solidFill>
              </a:rPr>
              <a:t> </a:t>
            </a:r>
            <a:r>
              <a:rPr lang="en-GB" sz="4000" dirty="0" err="1">
                <a:solidFill>
                  <a:schemeClr val="tx2"/>
                </a:solidFill>
              </a:rPr>
              <a:t>neuronových</a:t>
            </a:r>
            <a:r>
              <a:rPr lang="en-GB" sz="4000" dirty="0">
                <a:solidFill>
                  <a:schemeClr val="tx2"/>
                </a:solidFill>
              </a:rPr>
              <a:t> </a:t>
            </a:r>
            <a:r>
              <a:rPr lang="en-GB" sz="4000" dirty="0" err="1">
                <a:solidFill>
                  <a:schemeClr val="tx2"/>
                </a:solidFill>
              </a:rPr>
              <a:t>modelov</a:t>
            </a:r>
            <a:r>
              <a:rPr lang="en-GB" sz="4000" dirty="0">
                <a:solidFill>
                  <a:schemeClr val="tx2"/>
                </a:solidFill>
              </a:rPr>
              <a:t> </a:t>
            </a:r>
            <a:r>
              <a:rPr lang="en-GB" sz="4000" dirty="0" err="1">
                <a:solidFill>
                  <a:schemeClr val="tx2"/>
                </a:solidFill>
              </a:rPr>
              <a:t>pomocou</a:t>
            </a:r>
            <a:r>
              <a:rPr lang="en-GB" sz="4000" dirty="0">
                <a:solidFill>
                  <a:schemeClr val="tx2"/>
                </a:solidFill>
              </a:rPr>
              <a:t> </a:t>
            </a:r>
            <a:r>
              <a:rPr lang="en-GB" sz="4000" dirty="0" err="1">
                <a:solidFill>
                  <a:schemeClr val="tx2"/>
                </a:solidFill>
              </a:rPr>
              <a:t>zašumených</a:t>
            </a:r>
            <a:r>
              <a:rPr lang="en-GB" sz="4000" dirty="0">
                <a:solidFill>
                  <a:schemeClr val="tx2"/>
                </a:solidFill>
              </a:rPr>
              <a:t> </a:t>
            </a:r>
            <a:r>
              <a:rPr lang="en-GB" sz="4000" dirty="0" err="1">
                <a:solidFill>
                  <a:schemeClr val="tx2"/>
                </a:solidFill>
              </a:rPr>
              <a:t>dát</a:t>
            </a:r>
            <a:endParaRPr lang="en-GB" sz="4000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2"/>
                </a:solidFill>
              </a:rPr>
              <a:t>Sofia </a:t>
            </a:r>
            <a:r>
              <a:rPr lang="en-GB" sz="2000" dirty="0" err="1">
                <a:solidFill>
                  <a:schemeClr val="tx2"/>
                </a:solidFill>
              </a:rPr>
              <a:t>Čorbová</a:t>
            </a:r>
            <a:r>
              <a:rPr lang="en-GB" sz="2000" dirty="0">
                <a:solidFill>
                  <a:schemeClr val="tx2"/>
                </a:solidFill>
              </a:rPr>
              <a:t>, Marek </a:t>
            </a:r>
            <a:r>
              <a:rPr lang="en-GB" sz="2000" dirty="0" err="1">
                <a:solidFill>
                  <a:schemeClr val="tx2"/>
                </a:solidFill>
              </a:rPr>
              <a:t>Bavoľár</a:t>
            </a:r>
            <a:r>
              <a:rPr lang="en-GB" sz="2000" dirty="0">
                <a:solidFill>
                  <a:schemeClr val="tx2"/>
                </a:solidFill>
              </a:rPr>
              <a:t>, Jakub Blizman, Matúš </a:t>
            </a:r>
            <a:r>
              <a:rPr lang="en-GB" sz="2000" dirty="0" err="1">
                <a:solidFill>
                  <a:schemeClr val="tx2"/>
                </a:solidFill>
              </a:rPr>
              <a:t>Konopinský</a:t>
            </a:r>
            <a:r>
              <a:rPr lang="en-GB" sz="2000" dirty="0">
                <a:solidFill>
                  <a:schemeClr val="tx2"/>
                </a:solidFill>
              </a:rPr>
              <a:t>, Miroslav </a:t>
            </a:r>
            <a:r>
              <a:rPr lang="en-GB" sz="2000" dirty="0" err="1">
                <a:solidFill>
                  <a:schemeClr val="tx2"/>
                </a:solidFill>
              </a:rPr>
              <a:t>Košarič</a:t>
            </a:r>
            <a:endParaRPr lang="en-GB" sz="2000" dirty="0">
              <a:solidFill>
                <a:schemeClr val="tx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Úvod &amp; Motivácia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2400" dirty="0" err="1">
                <a:solidFill>
                  <a:schemeClr val="tx2"/>
                </a:solidFill>
              </a:rPr>
              <a:t>Šum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degraduje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extrakciu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významových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rysov</a:t>
            </a:r>
            <a:r>
              <a:rPr lang="en-GB" sz="2400" dirty="0">
                <a:solidFill>
                  <a:schemeClr val="tx2"/>
                </a:solidFill>
              </a:rPr>
              <a:t> v CNN</a:t>
            </a:r>
          </a:p>
          <a:p>
            <a:r>
              <a:rPr lang="en-GB" sz="2400" dirty="0" err="1">
                <a:solidFill>
                  <a:schemeClr val="tx2"/>
                </a:solidFill>
              </a:rPr>
              <a:t>Bežné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zdroje</a:t>
            </a:r>
            <a:r>
              <a:rPr lang="en-GB" sz="2400" dirty="0">
                <a:solidFill>
                  <a:schemeClr val="tx2"/>
                </a:solidFill>
              </a:rPr>
              <a:t>: </a:t>
            </a:r>
            <a:r>
              <a:rPr lang="en-GB" sz="2400" dirty="0" err="1">
                <a:solidFill>
                  <a:schemeClr val="tx2"/>
                </a:solidFill>
              </a:rPr>
              <a:t>kompresné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artefakty</a:t>
            </a:r>
            <a:r>
              <a:rPr lang="en-GB" sz="2400" dirty="0">
                <a:solidFill>
                  <a:schemeClr val="tx2"/>
                </a:solidFill>
              </a:rPr>
              <a:t>, </a:t>
            </a:r>
            <a:r>
              <a:rPr lang="en-GB" sz="2400" dirty="0" err="1">
                <a:solidFill>
                  <a:schemeClr val="tx2"/>
                </a:solidFill>
              </a:rPr>
              <a:t>slabé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osvetlenie</a:t>
            </a:r>
            <a:r>
              <a:rPr lang="en-GB" sz="2400" dirty="0">
                <a:solidFill>
                  <a:schemeClr val="tx2"/>
                </a:solidFill>
              </a:rPr>
              <a:t>, </a:t>
            </a:r>
            <a:r>
              <a:rPr lang="en-GB" sz="2400" dirty="0" err="1">
                <a:solidFill>
                  <a:schemeClr val="tx2"/>
                </a:solidFill>
              </a:rPr>
              <a:t>senzorový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šum</a:t>
            </a:r>
            <a:endParaRPr lang="en-GB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Ciele &amp; Výskumné otázky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2400" dirty="0" err="1">
                <a:solidFill>
                  <a:schemeClr val="tx2"/>
                </a:solidFill>
              </a:rPr>
              <a:t>Môže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pomôcť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šum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pri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trénovaní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robustnejších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modelov</a:t>
            </a:r>
            <a:r>
              <a:rPr lang="en-GB" sz="2400" dirty="0">
                <a:solidFill>
                  <a:schemeClr val="tx2"/>
                </a:solidFill>
              </a:rPr>
              <a:t>?</a:t>
            </a:r>
          </a:p>
          <a:p>
            <a:r>
              <a:rPr lang="en-GB" sz="2400" dirty="0" err="1">
                <a:solidFill>
                  <a:schemeClr val="tx2"/>
                </a:solidFill>
              </a:rPr>
              <a:t>Identifikovať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optimálne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hodnoty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l-GR" sz="2400" b="1" dirty="0">
                <a:solidFill>
                  <a:schemeClr val="tx2"/>
                </a:solidFill>
              </a:rPr>
              <a:t>σ</a:t>
            </a:r>
            <a:r>
              <a:rPr lang="el-GR" sz="2400" dirty="0">
                <a:solidFill>
                  <a:schemeClr val="tx2"/>
                </a:solidFill>
              </a:rPr>
              <a:t>, </a:t>
            </a:r>
            <a:r>
              <a:rPr lang="el-GR" sz="2400" b="1" dirty="0">
                <a:solidFill>
                  <a:schemeClr val="tx2"/>
                </a:solidFill>
              </a:rPr>
              <a:t>λ</a:t>
            </a:r>
            <a:r>
              <a:rPr lang="el-GR" sz="2400" dirty="0">
                <a:solidFill>
                  <a:schemeClr val="tx2"/>
                </a:solidFill>
              </a:rPr>
              <a:t> </a:t>
            </a:r>
            <a:r>
              <a:rPr lang="en-GB" sz="2400" dirty="0">
                <a:solidFill>
                  <a:schemeClr val="tx2"/>
                </a:solidFill>
              </a:rPr>
              <a:t>a </a:t>
            </a:r>
            <a:r>
              <a:rPr lang="en-GB" sz="2400" b="1" dirty="0">
                <a:solidFill>
                  <a:schemeClr val="tx2"/>
                </a:solidFill>
              </a:rPr>
              <a:t>amount</a:t>
            </a:r>
            <a:r>
              <a:rPr lang="en-GB" sz="2400" dirty="0">
                <a:solidFill>
                  <a:schemeClr val="tx2"/>
                </a:solidFill>
              </a:rPr>
              <a:t> pre </a:t>
            </a:r>
            <a:r>
              <a:rPr lang="en-GB" sz="2400" dirty="0" err="1">
                <a:solidFill>
                  <a:schemeClr val="tx2"/>
                </a:solidFill>
              </a:rPr>
              <a:t>robustný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tréning</a:t>
            </a:r>
            <a:endParaRPr lang="en-GB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en-GB"/>
              <a:t>Dataset &amp; Predspracovanie</a:t>
            </a:r>
          </a:p>
        </p:txBody>
      </p:sp>
      <p:pic>
        <p:nvPicPr>
          <p:cNvPr id="7" name="Picture 6" descr="A dog with a pink bow&#10;&#10;AI-generated content may be incorrect.">
            <a:extLst>
              <a:ext uri="{FF2B5EF4-FFF2-40B4-BE49-F238E27FC236}">
                <a16:creationId xmlns:a16="http://schemas.microsoft.com/office/drawing/2014/main" id="{2D0532A6-5F01-E3DB-03B0-C30C4DD76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16" r="2" b="8831"/>
          <a:stretch>
            <a:fillRect/>
          </a:stretch>
        </p:blipFill>
        <p:spPr>
          <a:xfrm>
            <a:off x="8531169" y="3584073"/>
            <a:ext cx="3452695" cy="29263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66" name="Content Placeholder 2">
            <a:extLst>
              <a:ext uri="{FF2B5EF4-FFF2-40B4-BE49-F238E27FC236}">
                <a16:creationId xmlns:a16="http://schemas.microsoft.com/office/drawing/2014/main" id="{03496192-7863-5D4E-AF9F-C24DA62FD8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599720"/>
              </p:ext>
            </p:extLst>
          </p:nvPr>
        </p:nvGraphicFramePr>
        <p:xfrm>
          <a:off x="971368" y="2711395"/>
          <a:ext cx="4114801" cy="3465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3BD0ED7-D0C8-B482-C96B-063CB7F98FE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874" b="1"/>
          <a:stretch>
            <a:fillRect/>
          </a:stretch>
        </p:blipFill>
        <p:spPr>
          <a:xfrm>
            <a:off x="8136077" y="570429"/>
            <a:ext cx="3533572" cy="27285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18474E-A749-C12E-7A26-F66D952F9B4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0673" r="3" b="17711"/>
          <a:stretch>
            <a:fillRect/>
          </a:stretch>
        </p:blipFill>
        <p:spPr>
          <a:xfrm>
            <a:off x="5738330" y="2848743"/>
            <a:ext cx="3021003" cy="3036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Architektúra Modelu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ResNet34 </a:t>
            </a:r>
            <a:r>
              <a:rPr lang="en-GB" sz="2400" dirty="0" err="1">
                <a:solidFill>
                  <a:schemeClr val="tx2"/>
                </a:solidFill>
              </a:rPr>
              <a:t>predtrénovaná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na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sieti</a:t>
            </a:r>
            <a:r>
              <a:rPr lang="en-GB" sz="2400" dirty="0">
                <a:solidFill>
                  <a:schemeClr val="tx2"/>
                </a:solidFill>
              </a:rPr>
              <a:t> ImageNet</a:t>
            </a:r>
          </a:p>
          <a:p>
            <a:r>
              <a:rPr lang="en-GB" sz="2400" dirty="0">
                <a:solidFill>
                  <a:schemeClr val="tx2"/>
                </a:solidFill>
              </a:rPr>
              <a:t>Fine-tuning </a:t>
            </a:r>
            <a:r>
              <a:rPr lang="en-GB" sz="2400" dirty="0" err="1">
                <a:solidFill>
                  <a:schemeClr val="tx2"/>
                </a:solidFill>
              </a:rPr>
              <a:t>poslednej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vrstvy</a:t>
            </a: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dirty="0" err="1">
                <a:solidFill>
                  <a:schemeClr val="tx2"/>
                </a:solidFill>
              </a:rPr>
              <a:t>Výstupná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vrstva</a:t>
            </a:r>
            <a:r>
              <a:rPr lang="en-GB" sz="2400" dirty="0">
                <a:solidFill>
                  <a:schemeClr val="tx2"/>
                </a:solidFill>
              </a:rPr>
              <a:t> – 37 </a:t>
            </a:r>
            <a:r>
              <a:rPr lang="en-GB" sz="2400" dirty="0" err="1">
                <a:solidFill>
                  <a:schemeClr val="tx2"/>
                </a:solidFill>
              </a:rPr>
              <a:t>výstupných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neurónov</a:t>
            </a:r>
            <a:r>
              <a:rPr lang="en-GB" sz="2400" dirty="0">
                <a:solidFill>
                  <a:schemeClr val="tx2"/>
                </a:solidFill>
              </a:rPr>
              <a:t> + Dropout p=0,5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hemicals outline">
            <a:extLst>
              <a:ext uri="{FF2B5EF4-FFF2-40B4-BE49-F238E27FC236}">
                <a16:creationId xmlns:a16="http://schemas.microsoft.com/office/drawing/2014/main" id="{1F9C54E8-C3CA-A3C1-7011-F41EEAFAA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61197" y="802955"/>
            <a:ext cx="4907810" cy="4907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7251" y="594128"/>
            <a:ext cx="3855720" cy="1813008"/>
          </a:xfrm>
        </p:spPr>
        <p:txBody>
          <a:bodyPr>
            <a:normAutofit/>
          </a:bodyPr>
          <a:lstStyle/>
          <a:p>
            <a:r>
              <a:rPr lang="en-GB" sz="3600" dirty="0" err="1">
                <a:solidFill>
                  <a:schemeClr val="tx2"/>
                </a:solidFill>
              </a:rPr>
              <a:t>Syntetická</a:t>
            </a:r>
            <a:r>
              <a:rPr lang="en-GB" sz="3600" dirty="0">
                <a:solidFill>
                  <a:schemeClr val="tx2"/>
                </a:solidFill>
              </a:rPr>
              <a:t> </a:t>
            </a:r>
            <a:r>
              <a:rPr lang="en-GB" sz="3600" dirty="0" err="1">
                <a:solidFill>
                  <a:schemeClr val="tx2"/>
                </a:solidFill>
              </a:rPr>
              <a:t>Augmentácia</a:t>
            </a:r>
            <a:r>
              <a:rPr lang="en-GB" sz="3600" dirty="0">
                <a:solidFill>
                  <a:schemeClr val="tx2"/>
                </a:solidFill>
              </a:rPr>
              <a:t> </a:t>
            </a:r>
            <a:r>
              <a:rPr lang="en-GB" sz="3600" dirty="0" err="1">
                <a:solidFill>
                  <a:schemeClr val="tx2"/>
                </a:solidFill>
              </a:rPr>
              <a:t>Šumu</a:t>
            </a:r>
            <a:endParaRPr lang="en-GB" sz="3600" dirty="0">
              <a:solidFill>
                <a:schemeClr val="tx2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DBBF5C3-BBBF-3BA2-157D-5E2A7D483E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831748"/>
              </p:ext>
            </p:extLst>
          </p:nvPr>
        </p:nvGraphicFramePr>
        <p:xfrm>
          <a:off x="6172199" y="1270536"/>
          <a:ext cx="5427229" cy="5284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Settings with solid fill">
            <a:extLst>
              <a:ext uri="{FF2B5EF4-FFF2-40B4-BE49-F238E27FC236}">
                <a16:creationId xmlns:a16="http://schemas.microsoft.com/office/drawing/2014/main" id="{301F06DD-AE17-6210-E4A5-5E07690174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572" y="1804250"/>
            <a:ext cx="3392953" cy="3392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 dirty="0" err="1">
                <a:solidFill>
                  <a:schemeClr val="tx2"/>
                </a:solidFill>
              </a:rPr>
              <a:t>Tréningové</a:t>
            </a:r>
            <a:r>
              <a:rPr lang="en-GB" sz="3600" dirty="0">
                <a:solidFill>
                  <a:schemeClr val="tx2"/>
                </a:solidFill>
              </a:rPr>
              <a:t> </a:t>
            </a:r>
            <a:r>
              <a:rPr lang="en-GB" sz="3600" dirty="0" err="1">
                <a:solidFill>
                  <a:schemeClr val="tx2"/>
                </a:solidFill>
              </a:rPr>
              <a:t>Parametre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Adam optimizer, </a:t>
            </a:r>
            <a:r>
              <a:rPr lang="en-GB" sz="2400" dirty="0" err="1">
                <a:solidFill>
                  <a:schemeClr val="tx2"/>
                </a:solidFill>
              </a:rPr>
              <a:t>lr</a:t>
            </a:r>
            <a:r>
              <a:rPr lang="en-GB" sz="2400" dirty="0">
                <a:solidFill>
                  <a:schemeClr val="tx2"/>
                </a:solidFill>
              </a:rPr>
              <a:t>=1e-3, weight decay=1e-4</a:t>
            </a:r>
          </a:p>
          <a:p>
            <a:r>
              <a:rPr lang="en-GB" sz="2400" dirty="0" err="1">
                <a:solidFill>
                  <a:schemeClr val="tx2"/>
                </a:solidFill>
              </a:rPr>
              <a:t>CrossEntropyLoss</a:t>
            </a:r>
            <a:r>
              <a:rPr lang="en-GB" sz="2400" dirty="0">
                <a:solidFill>
                  <a:schemeClr val="tx2"/>
                </a:solidFill>
              </a:rPr>
              <a:t> + label smoothing=0,1</a:t>
            </a:r>
          </a:p>
          <a:p>
            <a:r>
              <a:rPr lang="en-GB" sz="2400" dirty="0">
                <a:solidFill>
                  <a:schemeClr val="tx2"/>
                </a:solidFill>
              </a:rPr>
              <a:t>Trénovanie 200 epoch</a:t>
            </a:r>
          </a:p>
          <a:p>
            <a:r>
              <a:rPr lang="en-GB" sz="2400" dirty="0">
                <a:solidFill>
                  <a:schemeClr val="tx2"/>
                </a:solidFill>
              </a:rPr>
              <a:t>Early stopping: patience= 5 epoch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 dirty="0" err="1">
                <a:solidFill>
                  <a:schemeClr val="tx2"/>
                </a:solidFill>
              </a:rPr>
              <a:t>Stratégia</a:t>
            </a:r>
            <a:r>
              <a:rPr lang="en-GB" sz="3600" dirty="0">
                <a:solidFill>
                  <a:schemeClr val="tx2"/>
                </a:solidFill>
              </a:rPr>
              <a:t> </a:t>
            </a:r>
            <a:r>
              <a:rPr lang="en-GB" sz="3600" dirty="0" err="1">
                <a:solidFill>
                  <a:schemeClr val="tx2"/>
                </a:solidFill>
              </a:rPr>
              <a:t>postupného</a:t>
            </a:r>
            <a:r>
              <a:rPr lang="en-GB" sz="3600" dirty="0">
                <a:solidFill>
                  <a:schemeClr val="tx2"/>
                </a:solidFill>
              </a:rPr>
              <a:t> </a:t>
            </a:r>
            <a:r>
              <a:rPr lang="en-GB" sz="3600" dirty="0" err="1">
                <a:solidFill>
                  <a:schemeClr val="tx2"/>
                </a:solidFill>
              </a:rPr>
              <a:t>učenia</a:t>
            </a:r>
            <a:endParaRPr lang="en-GB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GB" sz="2400" dirty="0">
                <a:solidFill>
                  <a:schemeClr val="tx2"/>
                </a:solidFill>
              </a:rPr>
              <a:t>5 </a:t>
            </a:r>
            <a:r>
              <a:rPr lang="en-GB" sz="2400" dirty="0" err="1">
                <a:solidFill>
                  <a:schemeClr val="tx2"/>
                </a:solidFill>
              </a:rPr>
              <a:t>fáz</a:t>
            </a:r>
            <a:r>
              <a:rPr lang="en-GB" sz="2400" dirty="0">
                <a:solidFill>
                  <a:schemeClr val="tx2"/>
                </a:solidFill>
              </a:rPr>
              <a:t>: </a:t>
            </a:r>
            <a:r>
              <a:rPr lang="en-GB" sz="2400" dirty="0" err="1">
                <a:solidFill>
                  <a:schemeClr val="tx2"/>
                </a:solidFill>
              </a:rPr>
              <a:t>postupné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zvyšovanie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heterogenity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šumu</a:t>
            </a:r>
            <a:r>
              <a:rPr lang="en-GB" sz="2400" dirty="0">
                <a:solidFill>
                  <a:schemeClr val="tx2"/>
                </a:solidFill>
              </a:rPr>
              <a:t> v </a:t>
            </a:r>
            <a:r>
              <a:rPr lang="en-GB" sz="2400" dirty="0" err="1">
                <a:solidFill>
                  <a:schemeClr val="tx2"/>
                </a:solidFill>
              </a:rPr>
              <a:t>priebehu</a:t>
            </a:r>
            <a:r>
              <a:rPr lang="en-GB" sz="2400" dirty="0">
                <a:solidFill>
                  <a:schemeClr val="tx2"/>
                </a:solidFill>
              </a:rPr>
              <a:t> 200 epoch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GB" sz="2400" dirty="0">
              <a:solidFill>
                <a:schemeClr val="tx2"/>
              </a:solidFill>
            </a:endParaRP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GB" sz="2000" b="1" dirty="0" err="1">
                <a:solidFill>
                  <a:schemeClr val="tx2"/>
                </a:solidFill>
              </a:rPr>
              <a:t>Fáza</a:t>
            </a:r>
            <a:r>
              <a:rPr lang="en-GB" sz="2000" b="1" dirty="0">
                <a:solidFill>
                  <a:schemeClr val="tx2"/>
                </a:solidFill>
              </a:rPr>
              <a:t> 1 – </a:t>
            </a:r>
            <a:r>
              <a:rPr lang="en-GB" sz="2000" b="1" dirty="0" err="1">
                <a:solidFill>
                  <a:schemeClr val="tx2"/>
                </a:solidFill>
              </a:rPr>
              <a:t>Čisté</a:t>
            </a:r>
            <a:r>
              <a:rPr lang="en-GB" sz="2000" b="1" dirty="0">
                <a:solidFill>
                  <a:schemeClr val="tx2"/>
                </a:solidFill>
              </a:rPr>
              <a:t> data</a:t>
            </a:r>
          </a:p>
          <a:p>
            <a:pPr lvl="2"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Model </a:t>
            </a:r>
            <a:r>
              <a:rPr lang="en-GB" sz="1800" dirty="0" err="1">
                <a:solidFill>
                  <a:schemeClr val="tx2"/>
                </a:solidFill>
              </a:rPr>
              <a:t>sa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najprv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naučí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základné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rysy</a:t>
            </a:r>
            <a:r>
              <a:rPr lang="en-GB" sz="1800" dirty="0">
                <a:solidFill>
                  <a:schemeClr val="tx2"/>
                </a:solidFill>
              </a:rPr>
              <a:t> bez </a:t>
            </a:r>
            <a:r>
              <a:rPr lang="en-GB" sz="1800" dirty="0" err="1">
                <a:solidFill>
                  <a:schemeClr val="tx2"/>
                </a:solidFill>
              </a:rPr>
              <a:t>akéhokoľvek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šumu</a:t>
            </a:r>
            <a:r>
              <a:rPr lang="en-GB" sz="1800" dirty="0">
                <a:solidFill>
                  <a:schemeClr val="tx2"/>
                </a:solidFill>
              </a:rPr>
              <a:t>, čo </a:t>
            </a:r>
            <a:r>
              <a:rPr lang="en-GB" sz="1800" dirty="0" err="1">
                <a:solidFill>
                  <a:schemeClr val="tx2"/>
                </a:solidFill>
              </a:rPr>
              <a:t>zabezpečí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silné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počiatočné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váhy</a:t>
            </a:r>
            <a:r>
              <a:rPr lang="en-GB" sz="1800" dirty="0">
                <a:solidFill>
                  <a:schemeClr val="tx2"/>
                </a:solidFill>
              </a:rPr>
              <a:t> a </a:t>
            </a:r>
            <a:r>
              <a:rPr lang="en-GB" sz="1800" dirty="0" err="1">
                <a:solidFill>
                  <a:schemeClr val="tx2"/>
                </a:solidFill>
              </a:rPr>
              <a:t>stabilné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gradienty</a:t>
            </a:r>
            <a:r>
              <a:rPr lang="en-GB" sz="1800" dirty="0">
                <a:solidFill>
                  <a:schemeClr val="tx2"/>
                </a:solidFill>
              </a:rPr>
              <a:t>.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GB" sz="2000" b="1" dirty="0" err="1">
                <a:solidFill>
                  <a:schemeClr val="tx2"/>
                </a:solidFill>
              </a:rPr>
              <a:t>Fázy</a:t>
            </a:r>
            <a:r>
              <a:rPr lang="en-GB" sz="2000" b="1" dirty="0">
                <a:solidFill>
                  <a:schemeClr val="tx2"/>
                </a:solidFill>
              </a:rPr>
              <a:t> 2–4 – </a:t>
            </a:r>
            <a:r>
              <a:rPr lang="en-GB" sz="2000" b="1" dirty="0" err="1">
                <a:solidFill>
                  <a:schemeClr val="tx2"/>
                </a:solidFill>
              </a:rPr>
              <a:t>Jednotlivé</a:t>
            </a:r>
            <a:r>
              <a:rPr lang="en-GB" sz="2000" b="1" dirty="0">
                <a:solidFill>
                  <a:schemeClr val="tx2"/>
                </a:solidFill>
              </a:rPr>
              <a:t> </a:t>
            </a:r>
            <a:r>
              <a:rPr lang="en-GB" sz="2000" b="1" dirty="0" err="1">
                <a:solidFill>
                  <a:schemeClr val="tx2"/>
                </a:solidFill>
              </a:rPr>
              <a:t>typy</a:t>
            </a:r>
            <a:r>
              <a:rPr lang="en-GB" sz="2000" b="1" dirty="0">
                <a:solidFill>
                  <a:schemeClr val="tx2"/>
                </a:solidFill>
              </a:rPr>
              <a:t> </a:t>
            </a:r>
            <a:r>
              <a:rPr lang="en-GB" sz="2000" b="1" dirty="0" err="1">
                <a:solidFill>
                  <a:schemeClr val="tx2"/>
                </a:solidFill>
              </a:rPr>
              <a:t>šumu</a:t>
            </a:r>
            <a:endParaRPr lang="en-GB" sz="2000" b="1" dirty="0">
              <a:solidFill>
                <a:schemeClr val="tx2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GB" sz="1800" b="1" dirty="0" err="1">
                <a:solidFill>
                  <a:schemeClr val="tx2"/>
                </a:solidFill>
              </a:rPr>
              <a:t>Gaussov</a:t>
            </a:r>
            <a:r>
              <a:rPr lang="en-GB" sz="1800" b="1" dirty="0">
                <a:solidFill>
                  <a:schemeClr val="tx2"/>
                </a:solidFill>
              </a:rPr>
              <a:t> </a:t>
            </a:r>
            <a:r>
              <a:rPr lang="en-GB" sz="1800" b="1" dirty="0" err="1">
                <a:solidFill>
                  <a:schemeClr val="tx2"/>
                </a:solidFill>
              </a:rPr>
              <a:t>šum</a:t>
            </a:r>
            <a:r>
              <a:rPr lang="en-GB" sz="1800" dirty="0">
                <a:solidFill>
                  <a:schemeClr val="tx2"/>
                </a:solidFill>
              </a:rPr>
              <a:t>: </a:t>
            </a:r>
            <a:r>
              <a:rPr lang="en-GB" sz="1800" dirty="0" err="1">
                <a:solidFill>
                  <a:schemeClr val="tx2"/>
                </a:solidFill>
              </a:rPr>
              <a:t>mierne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narušenie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signálu</a:t>
            </a:r>
            <a:r>
              <a:rPr lang="en-GB" sz="1800" dirty="0">
                <a:solidFill>
                  <a:schemeClr val="tx2"/>
                </a:solidFill>
              </a:rPr>
              <a:t>, </a:t>
            </a:r>
            <a:r>
              <a:rPr lang="en-GB" sz="1800" dirty="0" err="1">
                <a:solidFill>
                  <a:schemeClr val="tx2"/>
                </a:solidFill>
              </a:rPr>
              <a:t>pomáha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naučiť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sa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odolnosti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proti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jemným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skresleniam</a:t>
            </a:r>
            <a:endParaRPr lang="en-GB" sz="1800" dirty="0">
              <a:solidFill>
                <a:schemeClr val="tx2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GB" sz="1800" b="1" dirty="0" err="1">
                <a:solidFill>
                  <a:schemeClr val="tx2"/>
                </a:solidFill>
              </a:rPr>
              <a:t>Poissonov</a:t>
            </a:r>
            <a:r>
              <a:rPr lang="en-GB" sz="1800" b="1" dirty="0">
                <a:solidFill>
                  <a:schemeClr val="tx2"/>
                </a:solidFill>
              </a:rPr>
              <a:t> </a:t>
            </a:r>
            <a:r>
              <a:rPr lang="en-GB" sz="1800" b="1" dirty="0" err="1">
                <a:solidFill>
                  <a:schemeClr val="tx2"/>
                </a:solidFill>
              </a:rPr>
              <a:t>šum</a:t>
            </a:r>
            <a:r>
              <a:rPr lang="en-GB" sz="1800" dirty="0">
                <a:solidFill>
                  <a:schemeClr val="tx2"/>
                </a:solidFill>
              </a:rPr>
              <a:t>: </a:t>
            </a:r>
            <a:r>
              <a:rPr lang="en-GB" sz="1800" dirty="0" err="1">
                <a:solidFill>
                  <a:schemeClr val="tx2"/>
                </a:solidFill>
              </a:rPr>
              <a:t>pripomína</a:t>
            </a:r>
            <a:r>
              <a:rPr lang="en-GB" sz="1800" dirty="0">
                <a:solidFill>
                  <a:schemeClr val="tx2"/>
                </a:solidFill>
              </a:rPr>
              <a:t> photon‐counting noise </a:t>
            </a:r>
            <a:r>
              <a:rPr lang="en-GB" sz="1800" dirty="0" err="1">
                <a:solidFill>
                  <a:schemeClr val="tx2"/>
                </a:solidFill>
              </a:rPr>
              <a:t>pri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nízkom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množstve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svetla</a:t>
            </a:r>
            <a:endParaRPr lang="en-GB" sz="1800" dirty="0">
              <a:solidFill>
                <a:schemeClr val="tx2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GB" sz="1800" b="1" dirty="0">
                <a:solidFill>
                  <a:schemeClr val="tx2"/>
                </a:solidFill>
              </a:rPr>
              <a:t>Salt-and-pepper </a:t>
            </a:r>
            <a:r>
              <a:rPr lang="en-GB" sz="1800" b="1" dirty="0" err="1">
                <a:solidFill>
                  <a:schemeClr val="tx2"/>
                </a:solidFill>
              </a:rPr>
              <a:t>šum</a:t>
            </a:r>
            <a:r>
              <a:rPr lang="en-GB" sz="1800" dirty="0">
                <a:solidFill>
                  <a:schemeClr val="tx2"/>
                </a:solidFill>
              </a:rPr>
              <a:t>: </a:t>
            </a:r>
            <a:r>
              <a:rPr lang="en-GB" sz="1800" dirty="0" err="1">
                <a:solidFill>
                  <a:schemeClr val="tx2"/>
                </a:solidFill>
              </a:rPr>
              <a:t>extrémnejšie</a:t>
            </a:r>
            <a:r>
              <a:rPr lang="en-GB" sz="1800" dirty="0">
                <a:solidFill>
                  <a:schemeClr val="tx2"/>
                </a:solidFill>
              </a:rPr>
              <a:t>, </a:t>
            </a:r>
            <a:r>
              <a:rPr lang="en-GB" sz="1800" dirty="0" err="1">
                <a:solidFill>
                  <a:schemeClr val="tx2"/>
                </a:solidFill>
              </a:rPr>
              <a:t>zasiahnuté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pixely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úplne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čierne</a:t>
            </a:r>
            <a:r>
              <a:rPr lang="en-GB" sz="1800" dirty="0">
                <a:solidFill>
                  <a:schemeClr val="tx2"/>
                </a:solidFill>
              </a:rPr>
              <a:t> alebo </a:t>
            </a:r>
            <a:r>
              <a:rPr lang="en-GB" sz="1800" dirty="0" err="1">
                <a:solidFill>
                  <a:schemeClr val="tx2"/>
                </a:solidFill>
              </a:rPr>
              <a:t>biele</a:t>
            </a:r>
            <a:endParaRPr lang="en-GB" sz="1800" dirty="0">
              <a:solidFill>
                <a:schemeClr val="tx2"/>
              </a:solidFill>
            </a:endParaRP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GB" sz="2000" b="1" dirty="0" err="1">
                <a:solidFill>
                  <a:schemeClr val="tx2"/>
                </a:solidFill>
              </a:rPr>
              <a:t>Fáza</a:t>
            </a:r>
            <a:r>
              <a:rPr lang="en-GB" sz="2000" b="1" dirty="0">
                <a:solidFill>
                  <a:schemeClr val="tx2"/>
                </a:solidFill>
              </a:rPr>
              <a:t> 5 – </a:t>
            </a:r>
            <a:r>
              <a:rPr lang="en-GB" sz="2000" b="1" dirty="0" err="1">
                <a:solidFill>
                  <a:schemeClr val="tx2"/>
                </a:solidFill>
              </a:rPr>
              <a:t>Kombinovaný</a:t>
            </a:r>
            <a:r>
              <a:rPr lang="en-GB" sz="2000" b="1" dirty="0">
                <a:solidFill>
                  <a:schemeClr val="tx2"/>
                </a:solidFill>
              </a:rPr>
              <a:t> </a:t>
            </a:r>
            <a:r>
              <a:rPr lang="en-GB" sz="2000" b="1" dirty="0" err="1">
                <a:solidFill>
                  <a:schemeClr val="tx2"/>
                </a:solidFill>
              </a:rPr>
              <a:t>šum</a:t>
            </a:r>
            <a:endParaRPr lang="en-GB" sz="2000" b="1" dirty="0">
              <a:solidFill>
                <a:schemeClr val="tx2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Model </a:t>
            </a:r>
            <a:r>
              <a:rPr lang="en-GB" sz="1800" dirty="0" err="1">
                <a:solidFill>
                  <a:schemeClr val="tx2"/>
                </a:solidFill>
              </a:rPr>
              <a:t>dostáva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všetky</a:t>
            </a:r>
            <a:r>
              <a:rPr lang="en-GB" sz="1800" dirty="0">
                <a:solidFill>
                  <a:schemeClr val="tx2"/>
                </a:solidFill>
              </a:rPr>
              <a:t> tri </a:t>
            </a:r>
            <a:r>
              <a:rPr lang="en-GB" sz="1800" dirty="0" err="1">
                <a:solidFill>
                  <a:schemeClr val="tx2"/>
                </a:solidFill>
              </a:rPr>
              <a:t>typy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naraz</a:t>
            </a:r>
            <a:r>
              <a:rPr lang="en-GB" sz="1800" dirty="0">
                <a:solidFill>
                  <a:schemeClr val="tx2"/>
                </a:solidFill>
              </a:rPr>
              <a:t>, čo </a:t>
            </a:r>
            <a:r>
              <a:rPr lang="en-GB" sz="1800" dirty="0" err="1">
                <a:solidFill>
                  <a:schemeClr val="tx2"/>
                </a:solidFill>
              </a:rPr>
              <a:t>simuluje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reálne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najhoršie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prípady</a:t>
            </a:r>
            <a:r>
              <a:rPr lang="en-GB" sz="1800" dirty="0">
                <a:solidFill>
                  <a:schemeClr val="tx2"/>
                </a:solidFill>
              </a:rPr>
              <a:t> a </a:t>
            </a:r>
            <a:r>
              <a:rPr lang="en-GB" sz="1800" dirty="0" err="1">
                <a:solidFill>
                  <a:schemeClr val="tx2"/>
                </a:solidFill>
              </a:rPr>
              <a:t>núti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sieť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byť</a:t>
            </a:r>
            <a:r>
              <a:rPr lang="en-GB" sz="1800" dirty="0">
                <a:solidFill>
                  <a:schemeClr val="tx2"/>
                </a:solidFill>
              </a:rPr>
              <a:t> čo </a:t>
            </a:r>
            <a:r>
              <a:rPr lang="en-GB" sz="1800" dirty="0" err="1">
                <a:solidFill>
                  <a:schemeClr val="tx2"/>
                </a:solidFill>
              </a:rPr>
              <a:t>najrobustnejšou</a:t>
            </a:r>
            <a:r>
              <a:rPr lang="en-GB" sz="1800"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253" y="645421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dirty="0" err="1">
                <a:solidFill>
                  <a:schemeClr val="tx2"/>
                </a:solidFill>
              </a:rPr>
              <a:t>Kľúčové</a:t>
            </a:r>
            <a:r>
              <a:rPr lang="en-GB" sz="3600" dirty="0">
                <a:solidFill>
                  <a:schemeClr val="tx2"/>
                </a:solidFill>
              </a:rPr>
              <a:t> </a:t>
            </a:r>
            <a:r>
              <a:rPr lang="en-GB" sz="3600" dirty="0" err="1">
                <a:solidFill>
                  <a:schemeClr val="tx2"/>
                </a:solidFill>
              </a:rPr>
              <a:t>Výsledky</a:t>
            </a:r>
            <a:endParaRPr lang="en-GB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252" y="1809550"/>
            <a:ext cx="7904854" cy="3914537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Baseline: </a:t>
            </a:r>
          </a:p>
          <a:p>
            <a:pPr lvl="1"/>
            <a:r>
              <a:rPr lang="en-GB" sz="2400" dirty="0">
                <a:solidFill>
                  <a:schemeClr val="tx2"/>
                </a:solidFill>
              </a:rPr>
              <a:t>Bez </a:t>
            </a:r>
            <a:r>
              <a:rPr lang="en-GB" sz="2400" dirty="0" err="1">
                <a:solidFill>
                  <a:schemeClr val="tx2"/>
                </a:solidFill>
              </a:rPr>
              <a:t>šumu</a:t>
            </a:r>
            <a:r>
              <a:rPr lang="en-GB" sz="2400" dirty="0">
                <a:solidFill>
                  <a:schemeClr val="tx2"/>
                </a:solidFill>
              </a:rPr>
              <a:t> = 81,35%, </a:t>
            </a:r>
          </a:p>
          <a:p>
            <a:pPr lvl="1"/>
            <a:r>
              <a:rPr lang="en-GB" sz="2400" dirty="0">
                <a:solidFill>
                  <a:schemeClr val="tx2"/>
                </a:solidFill>
              </a:rPr>
              <a:t>Všetky </a:t>
            </a:r>
            <a:r>
              <a:rPr lang="en-GB" sz="2400" dirty="0" err="1">
                <a:solidFill>
                  <a:schemeClr val="tx2"/>
                </a:solidFill>
              </a:rPr>
              <a:t>šumy</a:t>
            </a:r>
            <a:r>
              <a:rPr lang="en-GB" sz="2400" dirty="0">
                <a:solidFill>
                  <a:schemeClr val="tx2"/>
                </a:solidFill>
              </a:rPr>
              <a:t> - </a:t>
            </a:r>
            <a:r>
              <a:rPr lang="en-GB" sz="2400" dirty="0" err="1">
                <a:solidFill>
                  <a:schemeClr val="tx2"/>
                </a:solidFill>
              </a:rPr>
              <a:t>slabé</a:t>
            </a:r>
            <a:r>
              <a:rPr lang="en-GB" sz="2400" dirty="0">
                <a:solidFill>
                  <a:schemeClr val="tx2"/>
                </a:solidFill>
              </a:rPr>
              <a:t> 69,46 %</a:t>
            </a:r>
          </a:p>
          <a:p>
            <a:pPr lvl="1"/>
            <a:r>
              <a:rPr lang="en-GB" sz="2400" dirty="0">
                <a:solidFill>
                  <a:schemeClr val="tx2"/>
                </a:solidFill>
              </a:rPr>
              <a:t>Všetky </a:t>
            </a:r>
            <a:r>
              <a:rPr lang="en-GB" sz="2400" dirty="0" err="1">
                <a:solidFill>
                  <a:schemeClr val="tx2"/>
                </a:solidFill>
              </a:rPr>
              <a:t>šumy</a:t>
            </a:r>
            <a:r>
              <a:rPr lang="en-GB" sz="2400" dirty="0">
                <a:solidFill>
                  <a:schemeClr val="tx2"/>
                </a:solidFill>
              </a:rPr>
              <a:t> – </a:t>
            </a:r>
            <a:r>
              <a:rPr lang="en-GB" sz="2400" dirty="0" err="1">
                <a:solidFill>
                  <a:schemeClr val="tx2"/>
                </a:solidFill>
              </a:rPr>
              <a:t>silné</a:t>
            </a:r>
            <a:r>
              <a:rPr lang="en-GB" sz="2400" dirty="0">
                <a:solidFill>
                  <a:schemeClr val="tx2"/>
                </a:solidFill>
              </a:rPr>
              <a:t> = 57,97%</a:t>
            </a:r>
          </a:p>
          <a:p>
            <a:r>
              <a:rPr lang="en-GB" sz="2400" dirty="0">
                <a:solidFill>
                  <a:schemeClr val="tx2"/>
                </a:solidFill>
              </a:rPr>
              <a:t>Optimal config: </a:t>
            </a:r>
            <a:r>
              <a:rPr lang="el-GR" sz="2400" dirty="0">
                <a:solidFill>
                  <a:schemeClr val="tx2"/>
                </a:solidFill>
              </a:rPr>
              <a:t>σ=0</a:t>
            </a:r>
            <a:r>
              <a:rPr lang="en-US" sz="2400" dirty="0">
                <a:solidFill>
                  <a:schemeClr val="tx2"/>
                </a:solidFill>
              </a:rPr>
              <a:t>,</a:t>
            </a:r>
            <a:r>
              <a:rPr lang="el-GR" sz="2400" dirty="0">
                <a:solidFill>
                  <a:schemeClr val="tx2"/>
                </a:solidFill>
              </a:rPr>
              <a:t>1, λ=</a:t>
            </a:r>
            <a:r>
              <a:rPr lang="en-GB" sz="2400" dirty="0">
                <a:solidFill>
                  <a:schemeClr val="tx2"/>
                </a:solidFill>
              </a:rPr>
              <a:t>5</a:t>
            </a:r>
            <a:r>
              <a:rPr lang="el-GR" sz="2400" dirty="0">
                <a:solidFill>
                  <a:schemeClr val="tx2"/>
                </a:solidFill>
              </a:rPr>
              <a:t>0, </a:t>
            </a:r>
            <a:r>
              <a:rPr lang="en-GB" sz="2400" dirty="0">
                <a:solidFill>
                  <a:schemeClr val="tx2"/>
                </a:solidFill>
              </a:rPr>
              <a:t>amount = 0,005</a:t>
            </a:r>
          </a:p>
          <a:p>
            <a:pPr lvl="1"/>
            <a:r>
              <a:rPr lang="en-GB" sz="2400" dirty="0">
                <a:solidFill>
                  <a:schemeClr val="tx2"/>
                </a:solidFill>
              </a:rPr>
              <a:t>Bez </a:t>
            </a:r>
            <a:r>
              <a:rPr lang="en-GB" sz="2400" dirty="0" err="1">
                <a:solidFill>
                  <a:schemeClr val="tx2"/>
                </a:solidFill>
              </a:rPr>
              <a:t>šumu</a:t>
            </a:r>
            <a:r>
              <a:rPr lang="en-GB" sz="2400" dirty="0">
                <a:solidFill>
                  <a:schemeClr val="tx2"/>
                </a:solidFill>
              </a:rPr>
              <a:t> = 80,27%</a:t>
            </a:r>
          </a:p>
          <a:p>
            <a:pPr lvl="1"/>
            <a:r>
              <a:rPr lang="en-GB" sz="2400" dirty="0" err="1">
                <a:solidFill>
                  <a:schemeClr val="tx2"/>
                </a:solidFill>
              </a:rPr>
              <a:t>Všetky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šumy</a:t>
            </a:r>
            <a:r>
              <a:rPr lang="en-GB" sz="2400" dirty="0">
                <a:solidFill>
                  <a:schemeClr val="tx2"/>
                </a:solidFill>
              </a:rPr>
              <a:t> – </a:t>
            </a:r>
            <a:r>
              <a:rPr lang="en-GB" sz="2400" dirty="0" err="1">
                <a:solidFill>
                  <a:schemeClr val="tx2"/>
                </a:solidFill>
              </a:rPr>
              <a:t>slabé</a:t>
            </a:r>
            <a:r>
              <a:rPr lang="en-GB" sz="2400" dirty="0">
                <a:solidFill>
                  <a:schemeClr val="tx2"/>
                </a:solidFill>
              </a:rPr>
              <a:t> = 79,32%</a:t>
            </a:r>
          </a:p>
          <a:p>
            <a:pPr lvl="1"/>
            <a:r>
              <a:rPr lang="en-GB" sz="2400" dirty="0">
                <a:solidFill>
                  <a:schemeClr val="tx2"/>
                </a:solidFill>
              </a:rPr>
              <a:t>Všetky </a:t>
            </a:r>
            <a:r>
              <a:rPr lang="en-GB" sz="2400" dirty="0" err="1">
                <a:solidFill>
                  <a:schemeClr val="tx2"/>
                </a:solidFill>
              </a:rPr>
              <a:t>šumy</a:t>
            </a:r>
            <a:r>
              <a:rPr lang="en-GB" sz="2400" dirty="0">
                <a:solidFill>
                  <a:schemeClr val="tx2"/>
                </a:solidFill>
              </a:rPr>
              <a:t> – </a:t>
            </a:r>
            <a:r>
              <a:rPr lang="en-GB" sz="2400" dirty="0" err="1">
                <a:solidFill>
                  <a:schemeClr val="tx2"/>
                </a:solidFill>
              </a:rPr>
              <a:t>silné</a:t>
            </a:r>
            <a:r>
              <a:rPr lang="en-GB" sz="2400" dirty="0">
                <a:solidFill>
                  <a:schemeClr val="tx2"/>
                </a:solidFill>
              </a:rPr>
              <a:t> =  70,14%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Graphic 18" descr="Gears">
            <a:extLst>
              <a:ext uri="{FF2B5EF4-FFF2-40B4-BE49-F238E27FC236}">
                <a16:creationId xmlns:a16="http://schemas.microsoft.com/office/drawing/2014/main" id="{0F61C3E6-CFA1-6A0E-BC14-C8092CF53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r>
              <a:rPr lang="en-GB" sz="3600" dirty="0" err="1">
                <a:solidFill>
                  <a:schemeClr val="tx2"/>
                </a:solidFill>
              </a:rPr>
              <a:t>Diskusia</a:t>
            </a:r>
            <a:r>
              <a:rPr lang="en-GB" sz="3600" dirty="0">
                <a:solidFill>
                  <a:schemeClr val="tx2"/>
                </a:solidFill>
              </a:rPr>
              <a:t> &amp; </a:t>
            </a:r>
            <a:r>
              <a:rPr lang="en-GB" sz="3600" dirty="0" err="1">
                <a:solidFill>
                  <a:schemeClr val="tx2"/>
                </a:solidFill>
              </a:rPr>
              <a:t>Limitácie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Trade-off: </a:t>
            </a:r>
            <a:r>
              <a:rPr lang="en-GB" sz="2400" dirty="0" err="1">
                <a:solidFill>
                  <a:schemeClr val="tx2"/>
                </a:solidFill>
              </a:rPr>
              <a:t>robustnosť</a:t>
            </a:r>
            <a:r>
              <a:rPr lang="en-GB" sz="2400" dirty="0">
                <a:solidFill>
                  <a:schemeClr val="tx2"/>
                </a:solidFill>
              </a:rPr>
              <a:t> vs. </a:t>
            </a:r>
            <a:r>
              <a:rPr lang="en-GB" sz="2400" dirty="0" err="1">
                <a:solidFill>
                  <a:schemeClr val="tx2"/>
                </a:solidFill>
              </a:rPr>
              <a:t>čistá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presnosť</a:t>
            </a: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dirty="0" err="1">
                <a:solidFill>
                  <a:schemeClr val="tx2"/>
                </a:solidFill>
              </a:rPr>
              <a:t>Syntetický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šum</a:t>
            </a:r>
            <a:r>
              <a:rPr lang="en-GB" sz="2400" dirty="0">
                <a:solidFill>
                  <a:schemeClr val="tx2"/>
                </a:solidFill>
              </a:rPr>
              <a:t> ≠ </a:t>
            </a:r>
            <a:r>
              <a:rPr lang="en-GB" sz="2400" dirty="0" err="1">
                <a:solidFill>
                  <a:schemeClr val="tx2"/>
                </a:solidFill>
              </a:rPr>
              <a:t>reálny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senzorový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dirty="0" err="1">
                <a:solidFill>
                  <a:schemeClr val="tx2"/>
                </a:solidFill>
              </a:rPr>
              <a:t>šum</a:t>
            </a:r>
            <a:endParaRPr lang="en-GB" sz="24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147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431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ctr">
            <a:normAutofit/>
          </a:bodyPr>
          <a:lstStyle/>
          <a:p>
            <a:r>
              <a:rPr lang="en-GB" sz="5400" dirty="0" err="1">
                <a:solidFill>
                  <a:schemeClr val="tx2"/>
                </a:solidFill>
              </a:rPr>
              <a:t>Záver</a:t>
            </a:r>
            <a:endParaRPr lang="en-GB" sz="54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/>
          </a:bodyPr>
          <a:lstStyle/>
          <a:p>
            <a:r>
              <a:rPr lang="en-GB" sz="2800" dirty="0" err="1">
                <a:solidFill>
                  <a:schemeClr val="tx2"/>
                </a:solidFill>
              </a:rPr>
              <a:t>Šum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  <a:r>
              <a:rPr lang="en-GB" sz="2800" dirty="0" err="1">
                <a:solidFill>
                  <a:schemeClr val="tx2"/>
                </a:solidFill>
              </a:rPr>
              <a:t>môže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  <a:r>
              <a:rPr lang="en-GB" sz="2800" dirty="0" err="1">
                <a:solidFill>
                  <a:schemeClr val="tx2"/>
                </a:solidFill>
              </a:rPr>
              <a:t>pomôcť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  <a:r>
              <a:rPr lang="en-GB" sz="2800" dirty="0" err="1">
                <a:solidFill>
                  <a:schemeClr val="tx2"/>
                </a:solidFill>
              </a:rPr>
              <a:t>vytvárať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  <a:r>
              <a:rPr lang="en-GB" sz="2800" dirty="0" err="1">
                <a:solidFill>
                  <a:schemeClr val="tx2"/>
                </a:solidFill>
              </a:rPr>
              <a:t>rubustnejšie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  <a:r>
              <a:rPr lang="en-GB" sz="2800" dirty="0" err="1">
                <a:solidFill>
                  <a:schemeClr val="tx2"/>
                </a:solidFill>
              </a:rPr>
              <a:t>modely</a:t>
            </a:r>
            <a:endParaRPr lang="en-GB" sz="2800" dirty="0">
              <a:solidFill>
                <a:schemeClr val="tx2"/>
              </a:solidFill>
            </a:endParaRPr>
          </a:p>
          <a:p>
            <a:r>
              <a:rPr lang="en-GB" sz="2800" dirty="0" err="1">
                <a:solidFill>
                  <a:schemeClr val="tx2"/>
                </a:solidFill>
              </a:rPr>
              <a:t>Rozšíriť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  <a:r>
              <a:rPr lang="en-GB" sz="2800" dirty="0" err="1">
                <a:solidFill>
                  <a:schemeClr val="tx2"/>
                </a:solidFill>
              </a:rPr>
              <a:t>na</a:t>
            </a:r>
            <a:r>
              <a:rPr lang="en-GB" sz="2800" dirty="0">
                <a:solidFill>
                  <a:schemeClr val="tx2"/>
                </a:solidFill>
              </a:rPr>
              <a:t> object detection a </a:t>
            </a:r>
            <a:r>
              <a:rPr lang="en-GB" sz="2800" dirty="0" err="1">
                <a:solidFill>
                  <a:schemeClr val="tx2"/>
                </a:solidFill>
              </a:rPr>
              <a:t>reálne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  <a:r>
              <a:rPr lang="en-GB" sz="2800" dirty="0" err="1">
                <a:solidFill>
                  <a:schemeClr val="tx2"/>
                </a:solidFill>
              </a:rPr>
              <a:t>senzorové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  <a:r>
              <a:rPr lang="en-GB" sz="2800" dirty="0" err="1">
                <a:solidFill>
                  <a:schemeClr val="tx2"/>
                </a:solidFill>
              </a:rPr>
              <a:t>šumy</a:t>
            </a:r>
            <a:endParaRPr lang="en-GB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EF029-7BE5-CBF1-8CDE-FFA55383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98E45-CCB1-41BB-C8AF-47415EDF0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DC781E-1142-F0A0-DA53-469F3AF70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E84E70-14C2-C31D-2A5D-212763B39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431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B0408F3-367E-3ECD-2C3D-DA487FEA3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190E21E-CC54-B7B4-4674-7E5658474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68B327A-6CF2-A952-96AB-F09A9A699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A6806E7-3E2E-156C-EC28-D27D6A654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639590-9B70-4635-56C0-24D5D9D7A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D4716A-DBFC-AC84-926D-02B800B7E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4C06691-037A-994B-B621-AB080F28B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506353-07E6-F78D-5089-47C9B433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6347" y="2510325"/>
            <a:ext cx="5754696" cy="1837349"/>
          </a:xfrm>
        </p:spPr>
        <p:txBody>
          <a:bodyPr anchor="ctr">
            <a:normAutofit/>
          </a:bodyPr>
          <a:lstStyle/>
          <a:p>
            <a:r>
              <a:rPr lang="sk-SK" sz="5400" dirty="0">
                <a:solidFill>
                  <a:schemeClr val="tx2"/>
                </a:solidFill>
              </a:rPr>
              <a:t>Ďakujeme za pozornosť</a:t>
            </a:r>
            <a:endParaRPr lang="en-GB" sz="5400" dirty="0">
              <a:solidFill>
                <a:schemeClr val="tx2"/>
              </a:solidFill>
            </a:endParaRP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169B8EE9-5229-8A83-F443-3B35C888C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2146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391</Words>
  <Application>Microsoft Macintosh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Zlepšenie presnosti neuronových modelov pomocou zašumených dát</vt:lpstr>
      <vt:lpstr>Úvod &amp; Motivácia</vt:lpstr>
      <vt:lpstr>Ciele &amp; Výskumné otázky</vt:lpstr>
      <vt:lpstr>Dataset &amp; Predspracovanie</vt:lpstr>
      <vt:lpstr>Architektúra Modelu</vt:lpstr>
      <vt:lpstr>Syntetická Augmentácia Šumu</vt:lpstr>
      <vt:lpstr>Tréningové Parametre</vt:lpstr>
      <vt:lpstr>Stratégia postupného učenia</vt:lpstr>
      <vt:lpstr>Kľúčové Výsledky</vt:lpstr>
      <vt:lpstr>Diskusia &amp; Limitácie</vt:lpstr>
      <vt:lpstr>Záver</vt:lpstr>
      <vt:lpstr>Ďakujeme za pozornosť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Zlepšenie presnosti neuronových modelov pomocou zašumených dát</dc:title>
  <dc:subject/>
  <dc:creator/>
  <cp:keywords/>
  <dc:description>generated using python-pptx</dc:description>
  <cp:lastModifiedBy>Jakub Blizman</cp:lastModifiedBy>
  <cp:revision>43</cp:revision>
  <dcterms:created xsi:type="dcterms:W3CDTF">2013-01-27T09:14:16Z</dcterms:created>
  <dcterms:modified xsi:type="dcterms:W3CDTF">2025-05-18T12:31:19Z</dcterms:modified>
  <cp:category/>
</cp:coreProperties>
</file>